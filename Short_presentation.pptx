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89CCDD-3B60-5198-3F4D-CC776CBF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65927042-CE51-0AE3-9346-82856D638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>
            <a:extLst>
              <a:ext uri="{FF2B5EF4-FFF2-40B4-BE49-F238E27FC236}">
                <a16:creationId xmlns:a16="http://schemas.microsoft.com/office/drawing/2014/main" id="{09B2CF83-FCC3-6483-0BC3-35F0C403C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8184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F42885-9AC5-984E-50CC-D20E2B97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9C200644-85E2-E444-00E1-00E6A32C7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>
            <a:extLst>
              <a:ext uri="{FF2B5EF4-FFF2-40B4-BE49-F238E27FC236}">
                <a16:creationId xmlns:a16="http://schemas.microsoft.com/office/drawing/2014/main" id="{95F748B2-62B1-9C4B-68E7-E7A1684D6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5739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853848-DDE5-36A4-42AF-26C04400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F0316458-BA8F-D138-3322-5FFB429B6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>
            <a:extLst>
              <a:ext uri="{FF2B5EF4-FFF2-40B4-BE49-F238E27FC236}">
                <a16:creationId xmlns:a16="http://schemas.microsoft.com/office/drawing/2014/main" id="{D228C90C-6AE5-84A5-42D4-2EE2EDD38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729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0f6acda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d0f6acda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akaszfejléc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artalomrész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üggőleges cím és szöveg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rgbClr val="0A3041"/>
              </a:gs>
              <a:gs pos="100000">
                <a:srgbClr val="000000"/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0">
                <a:srgbClr val="0F4861">
                  <a:alpha val="58823"/>
                </a:srgbClr>
              </a:gs>
              <a:gs pos="1000">
                <a:srgbClr val="0F4861">
                  <a:alpha val="58823"/>
                </a:srgb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3000">
                <a:srgbClr val="0A3041">
                  <a:alpha val="0"/>
                </a:srgbClr>
              </a:gs>
              <a:gs pos="99000">
                <a:srgbClr val="000000">
                  <a:alpha val="27843"/>
                </a:srgbClr>
              </a:gs>
              <a:gs pos="100000">
                <a:srgbClr val="000000">
                  <a:alpha val="2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3000">
                <a:srgbClr val="0A3041">
                  <a:alpha val="0"/>
                </a:srgbClr>
              </a:gs>
              <a:gs pos="99000">
                <a:srgbClr val="0F4861">
                  <a:alpha val="49803"/>
                </a:srgbClr>
              </a:gs>
              <a:gs pos="100000">
                <a:srgbClr val="0F4861">
                  <a:alpha val="49803"/>
                </a:srgbClr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0">
                <a:srgbClr val="000000">
                  <a:alpha val="34901"/>
                </a:srgbClr>
              </a:gs>
              <a:gs pos="13000">
                <a:srgbClr val="000000">
                  <a:alpha val="34901"/>
                </a:srgbClr>
              </a:gs>
              <a:gs pos="99000">
                <a:srgbClr val="0F4861">
                  <a:alpha val="0"/>
                </a:srgbClr>
              </a:gs>
              <a:gs pos="100000">
                <a:srgbClr val="0F4861">
                  <a:alpha val="0"/>
                </a:srgbClr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87713" y="4049"/>
            <a:ext cx="10216576" cy="4729040"/>
          </a:xfrm>
          <a:custGeom>
            <a:avLst/>
            <a:gdLst/>
            <a:ahLst/>
            <a:cxnLst/>
            <a:rect l="l" t="t" r="r" b="b"/>
            <a:pathLst>
              <a:path w="10216576" h="4729040" extrusionOk="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0">
                <a:srgbClr val="0A3041">
                  <a:alpha val="3921"/>
                </a:srgbClr>
              </a:gs>
              <a:gs pos="7000">
                <a:srgbClr val="0A3041">
                  <a:alpha val="3921"/>
                </a:srgbClr>
              </a:gs>
              <a:gs pos="99000">
                <a:srgbClr val="156082">
                  <a:alpha val="23921"/>
                </a:srgbClr>
              </a:gs>
              <a:gs pos="100000">
                <a:srgbClr val="156082">
                  <a:alpha val="23921"/>
                </a:srgbClr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hu-HU" sz="4800">
                <a:solidFill>
                  <a:srgbClr val="FFFFFF"/>
                </a:solidFill>
              </a:rPr>
              <a:t>Sliding Squares in Parallel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hu-HU" sz="2200">
                <a:solidFill>
                  <a:srgbClr val="FFFFFF"/>
                </a:solidFill>
              </a:rPr>
              <a:t>KÉSZÍTETTE: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hu-HU" sz="2200">
                <a:solidFill>
                  <a:srgbClr val="FFFFFF"/>
                </a:solidFill>
              </a:rPr>
              <a:t>GERGELYI LAURA BOGLÁRKA, SZÁSZ KRISTÓF RÓBERT, KISS MARCELL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Az alapprobléma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Bemenet: kezdő alak C1​, cél alak C2​.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Feladat: legális párhuzamos mozdulatok sorozatával </a:t>
            </a:r>
            <a:r>
              <a:rPr lang="hu-HU" sz="2000">
                <a:latin typeface="Arial"/>
                <a:ea typeface="Arial"/>
                <a:cs typeface="Arial"/>
                <a:sym typeface="Arial"/>
              </a:rPr>
              <a:t>C1 -&gt; C2</a:t>
            </a: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​.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Korlátok: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1" i="0" u="none" strike="noStrike" cap="none">
                <a:latin typeface="Arial"/>
                <a:ea typeface="Arial"/>
                <a:cs typeface="Arial"/>
                <a:sym typeface="Arial"/>
              </a:rPr>
              <a:t>Összefüggőség</a:t>
            </a: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 megőrzése (mindig legyen kapcsolat).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1" i="0" u="none" strike="noStrike" cap="none">
                <a:latin typeface="Arial"/>
                <a:ea typeface="Arial"/>
                <a:cs typeface="Arial"/>
                <a:sym typeface="Arial"/>
              </a:rPr>
              <a:t>Ütközésmentesség</a:t>
            </a: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 (a mozdulatok ne fedjék egymást).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Kimenet: átalakulási ütemezés (minden lépésben több modul is mozoghat).</a:t>
            </a:r>
            <a:endParaRPr/>
          </a:p>
          <a:p>
            <a:pPr marL="0" marR="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hu-HU" sz="2000" b="1" i="0" u="none" strike="noStrike" cap="none">
                <a:latin typeface="Arial"/>
                <a:ea typeface="Arial"/>
                <a:cs typeface="Arial"/>
                <a:sym typeface="Arial"/>
              </a:rPr>
              <a:t>Cél:</a:t>
            </a: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 minimalizálni a </a:t>
            </a:r>
            <a:r>
              <a:rPr lang="hu-HU" sz="2000" b="1" i="0" u="none" strike="noStrike" cap="none">
                <a:latin typeface="Arial"/>
                <a:ea typeface="Arial"/>
                <a:cs typeface="Arial"/>
                <a:sym typeface="Arial"/>
              </a:rPr>
              <a:t>makespant</a:t>
            </a:r>
            <a:r>
              <a:rPr lang="hu-HU" sz="2000" b="0" i="0" u="none" strike="noStrike" cap="none">
                <a:latin typeface="Arial"/>
                <a:ea typeface="Arial"/>
                <a:cs typeface="Arial"/>
                <a:sym typeface="Arial"/>
              </a:rPr>
              <a:t> (párhuzamos lépések számát).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Worst-case optimal algorithm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A 4 fázis: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Exoskeleton építése (Gathering Squares)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Scaffolding (állványzat) kialakítása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Söprés (Sweeping) – hisztogrammá alakítás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Hisztogram-átalakítás (Histogram Transformation)</a:t>
            </a:r>
            <a:endParaRPr sz="2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I. fázis: Exoskeleton építése</a:t>
            </a:r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 b="1"/>
              <a:t>Cél: </a:t>
            </a:r>
            <a:r>
              <a:rPr lang="hu-HU" sz="1900"/>
              <a:t>Egy stabil, manipulálható </a:t>
            </a:r>
            <a:r>
              <a:rPr lang="hu-HU" sz="1900" b="1"/>
              <a:t>exoskeleton</a:t>
            </a:r>
            <a:r>
              <a:rPr lang="hu-HU" sz="1900"/>
              <a:t> kialakítása a kezdeti alakból.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 b="1"/>
              <a:t>Lépések:</a:t>
            </a:r>
            <a:endParaRPr sz="19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/>
              <a:t>Kiszámítjuk a </a:t>
            </a:r>
            <a:r>
              <a:rPr lang="hu-HU" sz="1900" b="1"/>
              <a:t>vázat (skeleton)</a:t>
            </a:r>
            <a:r>
              <a:rPr lang="hu-HU" sz="1900"/>
              <a:t> – fa-szerű mag.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/>
              <a:t>Kiválasztunk egy nagyobb </a:t>
            </a:r>
            <a:r>
              <a:rPr lang="hu-HU" sz="1900" b="1"/>
              <a:t>részfát</a:t>
            </a:r>
            <a:r>
              <a:rPr lang="hu-HU" sz="1900"/>
              <a:t> 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/>
              <a:t>Körbevesszük egy </a:t>
            </a:r>
            <a:r>
              <a:rPr lang="hu-HU" sz="1900" b="1"/>
              <a:t>héjjal (shell)</a:t>
            </a:r>
            <a:r>
              <a:rPr lang="hu-HU" sz="1900"/>
              <a:t>, így lesz </a:t>
            </a:r>
            <a:r>
              <a:rPr lang="hu-HU" sz="1900" b="1"/>
              <a:t>core + shell</a:t>
            </a:r>
            <a:r>
              <a:rPr lang="hu-HU" sz="1900"/>
              <a:t> szerkezet.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/>
              <a:t>A belső részben legalább egy cella üres marad, hogy a modulok mozoghassanak.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/>
              <a:t>A mozgatásokhoz </a:t>
            </a:r>
            <a:r>
              <a:rPr lang="hu-HU" sz="1900" b="1"/>
              <a:t>Inchworm-Push</a:t>
            </a:r>
            <a:r>
              <a:rPr lang="hu-HU" sz="1900"/>
              <a:t> és </a:t>
            </a:r>
            <a:r>
              <a:rPr lang="hu-HU" sz="1900" b="1"/>
              <a:t>Inchworm-Pull</a:t>
            </a:r>
            <a:r>
              <a:rPr lang="hu-HU" sz="1900"/>
              <a:t> lokális műveleteket használunk.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hu-HU" sz="1900" b="1"/>
              <a:t>Eredmény:</a:t>
            </a:r>
            <a:br>
              <a:rPr lang="hu-HU" sz="1900"/>
            </a:br>
            <a:r>
              <a:rPr lang="hu-HU" sz="1900"/>
              <a:t>Nagy, összefüggő exoskeleton.</a:t>
            </a:r>
            <a:endParaRPr/>
          </a:p>
          <a:p>
            <a:pPr marL="22860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II. fázis: Scaffolding</a:t>
            </a:r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Cél:</a:t>
            </a:r>
            <a:br>
              <a:rPr lang="hu-HU" sz="2000"/>
            </a:br>
            <a:r>
              <a:rPr lang="hu-HU" sz="2000"/>
              <a:t>Az exoskeletonból </a:t>
            </a:r>
            <a:r>
              <a:rPr lang="hu-HU" sz="2000" b="1"/>
              <a:t>T-alakú állvány</a:t>
            </a:r>
            <a:r>
              <a:rPr lang="hu-HU" sz="2000"/>
              <a:t> létrehozása a bounding boxon belül.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/>
              <a:t>Fő lépések: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/>
              <a:t>Az exoskeletont </a:t>
            </a:r>
            <a:r>
              <a:rPr lang="hu-HU" sz="2000" b="1"/>
              <a:t>tömörítjük</a:t>
            </a:r>
            <a:r>
              <a:rPr lang="hu-HU" sz="2000"/>
              <a:t>, hogy a mag szilárd tömb legyen.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/>
              <a:t>A jobb szélső pontból </a:t>
            </a:r>
            <a:r>
              <a:rPr lang="hu-HU" sz="2000" b="1"/>
              <a:t>vízszintes kar</a:t>
            </a:r>
            <a:r>
              <a:rPr lang="hu-HU" sz="2000"/>
              <a:t> nő ki (3×3 blokk).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/>
              <a:t>Ezt </a:t>
            </a:r>
            <a:r>
              <a:rPr lang="hu-HU" sz="2000" b="1"/>
              <a:t>függőlegesen</a:t>
            </a:r>
            <a:r>
              <a:rPr lang="hu-HU" sz="2000"/>
              <a:t> kiterjesztjük felfelé és lefelé.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/>
              <a:t>➡ Ezzel egy </a:t>
            </a:r>
            <a:r>
              <a:rPr lang="hu-HU" sz="2000" b="1"/>
              <a:t>függőleges söprővonal</a:t>
            </a:r>
            <a:r>
              <a:rPr lang="hu-HU" sz="2000"/>
              <a:t> jön létre,</a:t>
            </a:r>
            <a:br>
              <a:rPr lang="hu-HU" sz="2000"/>
            </a:br>
            <a:r>
              <a:rPr lang="hu-HU" sz="2000"/>
              <a:t>amely a 3. fázis során vezeti a mozgást.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hu-HU" sz="4000">
                <a:solidFill>
                  <a:schemeClr val="lt1"/>
                </a:solidFill>
              </a:rPr>
              <a:t>III. fázis: Sweeping into a histogram </a:t>
            </a:r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1371599" y="1885279"/>
            <a:ext cx="9724031" cy="437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 b="1"/>
              <a:t>Cél:</a:t>
            </a:r>
            <a:br>
              <a:rPr lang="hu-HU" sz="1700"/>
            </a:br>
            <a:r>
              <a:rPr lang="hu-HU" sz="1700"/>
              <a:t>A teljes konfigurációt „lesöpörni” hisztogram-alakra.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 b="1"/>
              <a:t>Fő ötlet:</a:t>
            </a:r>
            <a:endParaRPr sz="17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/>
              <a:t>Bevezetjük a </a:t>
            </a:r>
            <a:r>
              <a:rPr lang="hu-HU" sz="1700" b="1"/>
              <a:t>meta-modulokat</a:t>
            </a:r>
            <a:r>
              <a:rPr lang="hu-HU" sz="1700"/>
              <a:t> (3×3 vagy 8-cellás „O”-formák).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/>
              <a:t>Egy </a:t>
            </a:r>
            <a:r>
              <a:rPr lang="hu-HU" sz="1700" b="1"/>
              <a:t>sweep line</a:t>
            </a:r>
            <a:r>
              <a:rPr lang="hu-HU" sz="1700"/>
              <a:t>-t képezünk meta-modulokból.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/>
              <a:t>Két váltakozó fázis: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 b="1"/>
              <a:t>Clean</a:t>
            </a:r>
            <a:r>
              <a:rPr lang="hu-HU" sz="1700"/>
              <a:t> – hiányzó cellák feltöltése 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 b="1"/>
              <a:t>Advance</a:t>
            </a:r>
            <a:r>
              <a:rPr lang="hu-HU" sz="1700"/>
              <a:t> – a söprővonal egy oszloppal balra mozdul.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/>
              <a:t>A folyamatot ismételve a teljes terület „kitakarításra kerül”.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hu-HU" sz="1700" b="1"/>
              <a:t>Eredmény:</a:t>
            </a:r>
            <a:br>
              <a:rPr lang="hu-HU" sz="1700"/>
            </a:br>
            <a:r>
              <a:rPr lang="hu-HU" sz="1700"/>
              <a:t>Egy jól strukturált, </a:t>
            </a:r>
            <a:r>
              <a:rPr lang="hu-HU" sz="1700" b="1"/>
              <a:t>x-monoton hisztogram</a:t>
            </a:r>
            <a:r>
              <a:rPr lang="hu-HU" sz="1700"/>
              <a:t> konfiguráció.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IV. fázis: Hisztogram-átalakítás</a:t>
            </a:r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 dirty="0"/>
              <a:t>Cél:</a:t>
            </a:r>
            <a:br>
              <a:rPr lang="hu-HU" sz="2000" dirty="0"/>
            </a:br>
            <a:r>
              <a:rPr lang="hu-HU" sz="2000" dirty="0"/>
              <a:t>Az elkészült hisztogramot átalakítani a célalak hisztogramjává.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 dirty="0"/>
              <a:t>Lépések: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 dirty="0"/>
              <a:t>Skálázás</a:t>
            </a:r>
            <a:r>
              <a:rPr lang="hu-HU" sz="2000" dirty="0"/>
              <a:t> – a hisztogramot 3×3-as rácsra igazítjuk.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dirty="0"/>
              <a:t>Az alak </a:t>
            </a:r>
            <a:r>
              <a:rPr lang="hu-HU" sz="2000" b="1" dirty="0"/>
              <a:t>x-monotonból xy-monotonná</a:t>
            </a:r>
            <a:r>
              <a:rPr lang="hu-HU" sz="2000" dirty="0"/>
              <a:t> válik (két alapvonal mentén).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 b="1" dirty="0"/>
              <a:t>Eredmény:</a:t>
            </a:r>
            <a:br>
              <a:rPr lang="hu-HU" sz="2000" dirty="0"/>
            </a:br>
            <a:r>
              <a:rPr lang="hu-HU" sz="2000" dirty="0"/>
              <a:t>A teljes átalakítás lezárul – a célkonfiguráció elérve,</a:t>
            </a:r>
            <a:br>
              <a:rPr lang="hu-HU" sz="2000" dirty="0"/>
            </a:br>
            <a:r>
              <a:rPr lang="hu-HU" sz="2000" dirty="0"/>
              <a:t>összefüggő és optimális időben.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B9C5FE20-9659-0567-DA70-C01E77FC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>
            <a:extLst>
              <a:ext uri="{FF2B5EF4-FFF2-40B4-BE49-F238E27FC236}">
                <a16:creationId xmlns:a16="http://schemas.microsoft.com/office/drawing/2014/main" id="{EE6B3114-F95C-F676-56D9-8DD6C81433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>
            <a:extLst>
              <a:ext uri="{FF2B5EF4-FFF2-40B4-BE49-F238E27FC236}">
                <a16:creationId xmlns:a16="http://schemas.microsoft.com/office/drawing/2014/main" id="{37AEC178-6C1E-540E-AD55-A4A6A1BD743D}"/>
              </a:ext>
            </a:extLst>
          </p:cNvPr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>
            <a:extLst>
              <a:ext uri="{FF2B5EF4-FFF2-40B4-BE49-F238E27FC236}">
                <a16:creationId xmlns:a16="http://schemas.microsoft.com/office/drawing/2014/main" id="{60CC6D3C-D6DD-27D8-E6D8-8FF3337954D4}"/>
              </a:ext>
            </a:extLst>
          </p:cNvPr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>
            <a:extLst>
              <a:ext uri="{FF2B5EF4-FFF2-40B4-BE49-F238E27FC236}">
                <a16:creationId xmlns:a16="http://schemas.microsoft.com/office/drawing/2014/main" id="{C6FE7FD4-6C76-19C6-D936-5D4816C143EF}"/>
              </a:ext>
            </a:extLst>
          </p:cNvPr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>
            <a:extLst>
              <a:ext uri="{FF2B5EF4-FFF2-40B4-BE49-F238E27FC236}">
                <a16:creationId xmlns:a16="http://schemas.microsoft.com/office/drawing/2014/main" id="{6C7FDAA8-57C8-D225-FB0F-878EA0039585}"/>
              </a:ext>
            </a:extLst>
          </p:cNvPr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>
            <a:extLst>
              <a:ext uri="{FF2B5EF4-FFF2-40B4-BE49-F238E27FC236}">
                <a16:creationId xmlns:a16="http://schemas.microsoft.com/office/drawing/2014/main" id="{192E853D-72B5-AEEC-E142-29392E822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 dirty="0">
                <a:solidFill>
                  <a:srgbClr val="FFFFFF"/>
                </a:solidFill>
              </a:rPr>
              <a:t>Szimulációs program</a:t>
            </a:r>
            <a:endParaRPr dirty="0"/>
          </a:p>
        </p:txBody>
      </p:sp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B7284C3C-3414-D29A-5A77-0010B8C38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23135" y="1464230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000"/>
            </a:pPr>
            <a:r>
              <a:rPr lang="hu-HU" sz="2000" b="1" dirty="0"/>
              <a:t>Technológiák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hu-HU" sz="2000" dirty="0"/>
              <a:t>Python 3 – a teljes logika megvalósítása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hu-HU" sz="2000" dirty="0" err="1"/>
              <a:t>Tkinter</a:t>
            </a:r>
            <a:r>
              <a:rPr lang="hu-HU" sz="2000" dirty="0"/>
              <a:t> – grafikus felület (modulok kirajzolása, lépésről lépésre animáció)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hu-HU" sz="2000" dirty="0" err="1"/>
              <a:t>Object-oriented</a:t>
            </a:r>
            <a:r>
              <a:rPr lang="hu-HU" sz="2000" dirty="0"/>
              <a:t> struktúra – jól szeparált modulok, könnyű bővíthetőség</a:t>
            </a:r>
          </a:p>
          <a:p>
            <a:pPr marL="685800" lvl="1" indent="-228600">
              <a:spcBef>
                <a:spcPts val="0"/>
              </a:spcBef>
              <a:buSzPts val="2000"/>
            </a:pPr>
            <a:r>
              <a:rPr lang="hu-HU" sz="2000" dirty="0" err="1"/>
              <a:t>Deepcopy</a:t>
            </a:r>
            <a:r>
              <a:rPr lang="hu-HU" sz="2000" dirty="0"/>
              <a:t> alapú szimuláció – biztonságos állapotkezelés a tervezési lépésekhez</a:t>
            </a:r>
          </a:p>
        </p:txBody>
      </p:sp>
    </p:spTree>
    <p:extLst>
      <p:ext uri="{BB962C8B-B14F-4D97-AF65-F5344CB8AC3E}">
        <p14:creationId xmlns:p14="http://schemas.microsoft.com/office/powerpoint/2010/main" val="147951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DE550FCA-6819-F635-28AB-1E5651C9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>
            <a:extLst>
              <a:ext uri="{FF2B5EF4-FFF2-40B4-BE49-F238E27FC236}">
                <a16:creationId xmlns:a16="http://schemas.microsoft.com/office/drawing/2014/main" id="{754EEE2C-AD6D-8070-4492-846B01A9A5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>
            <a:extLst>
              <a:ext uri="{FF2B5EF4-FFF2-40B4-BE49-F238E27FC236}">
                <a16:creationId xmlns:a16="http://schemas.microsoft.com/office/drawing/2014/main" id="{2DD1AF14-07D5-1904-E3D6-63AA33714B24}"/>
              </a:ext>
            </a:extLst>
          </p:cNvPr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>
            <a:extLst>
              <a:ext uri="{FF2B5EF4-FFF2-40B4-BE49-F238E27FC236}">
                <a16:creationId xmlns:a16="http://schemas.microsoft.com/office/drawing/2014/main" id="{2E98F275-C900-0E81-2C49-82ABDA2B2E11}"/>
              </a:ext>
            </a:extLst>
          </p:cNvPr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>
            <a:extLst>
              <a:ext uri="{FF2B5EF4-FFF2-40B4-BE49-F238E27FC236}">
                <a16:creationId xmlns:a16="http://schemas.microsoft.com/office/drawing/2014/main" id="{5AFCF50F-F014-B696-2CD2-A34CC5F1EB49}"/>
              </a:ext>
            </a:extLst>
          </p:cNvPr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>
            <a:extLst>
              <a:ext uri="{FF2B5EF4-FFF2-40B4-BE49-F238E27FC236}">
                <a16:creationId xmlns:a16="http://schemas.microsoft.com/office/drawing/2014/main" id="{82986323-6143-C9D6-407C-16FE56AD3783}"/>
              </a:ext>
            </a:extLst>
          </p:cNvPr>
          <p:cNvSpPr/>
          <p:nvPr/>
        </p:nvSpPr>
        <p:spPr>
          <a:xfrm>
            <a:off x="229675" y="36884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>
            <a:extLst>
              <a:ext uri="{FF2B5EF4-FFF2-40B4-BE49-F238E27FC236}">
                <a16:creationId xmlns:a16="http://schemas.microsoft.com/office/drawing/2014/main" id="{734C71B4-4FE1-AFC2-E39A-45214BEA3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 dirty="0">
                <a:solidFill>
                  <a:srgbClr val="FFFFFF"/>
                </a:solidFill>
              </a:rPr>
              <a:t>Program felépítése</a:t>
            </a:r>
            <a:endParaRPr dirty="0"/>
          </a:p>
        </p:txBody>
      </p:sp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93C4E0EB-AFEB-9B30-BA04-0E44A13AB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215" y="2257338"/>
            <a:ext cx="10133585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b="1" dirty="0" err="1"/>
              <a:t>Environment</a:t>
            </a:r>
            <a:r>
              <a:rPr lang="hu-HU" sz="1500" dirty="0"/>
              <a:t>: a “játszótér”, ahol a modulok mozognak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Atomi lépésvégrehajtás (minden robot egyszerre ugrik)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b="1" dirty="0" err="1"/>
              <a:t>Grid</a:t>
            </a:r>
            <a:r>
              <a:rPr lang="hu-HU" sz="1500" dirty="0"/>
              <a:t>: tárolja, melyik cellát melyik modul foglalja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b="1" dirty="0" err="1"/>
              <a:t>Module</a:t>
            </a:r>
            <a:r>
              <a:rPr lang="hu-HU" sz="1500" b="1" dirty="0"/>
              <a:t> &amp; </a:t>
            </a:r>
            <a:r>
              <a:rPr lang="hu-HU" sz="1500" b="1" dirty="0" err="1"/>
              <a:t>Move</a:t>
            </a:r>
            <a:r>
              <a:rPr lang="hu-HU" sz="1500" b="1" dirty="0"/>
              <a:t>: </a:t>
            </a:r>
            <a:r>
              <a:rPr lang="hu-HU" sz="1500" dirty="0"/>
              <a:t>modulok és a lehetséges irányok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b="1" dirty="0" err="1"/>
              <a:t>Phases</a:t>
            </a:r>
            <a:r>
              <a:rPr lang="hu-HU" sz="1500" b="1" dirty="0"/>
              <a:t> 1–4</a:t>
            </a:r>
            <a:r>
              <a:rPr lang="hu-HU" sz="1500" dirty="0"/>
              <a:t>: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1: </a:t>
            </a:r>
            <a:r>
              <a:rPr lang="hu-HU" sz="1500" dirty="0" err="1"/>
              <a:t>Exoskeleton</a:t>
            </a:r>
            <a:r>
              <a:rPr lang="hu-HU" sz="1500" dirty="0"/>
              <a:t> építés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2: </a:t>
            </a:r>
            <a:r>
              <a:rPr lang="hu-HU" sz="1500" dirty="0" err="1"/>
              <a:t>Scaffolding</a:t>
            </a:r>
            <a:endParaRPr lang="hu-HU" sz="1500" dirty="0"/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3: </a:t>
            </a:r>
            <a:r>
              <a:rPr lang="hu-HU" sz="1500" dirty="0" err="1"/>
              <a:t>Histogram</a:t>
            </a:r>
            <a:r>
              <a:rPr lang="hu-HU" sz="1500" dirty="0"/>
              <a:t> átrendezés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4: Párhuzamos mozgással célalakzat elérése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b="1" dirty="0" err="1"/>
              <a:t>Skeleton</a:t>
            </a:r>
            <a:r>
              <a:rPr lang="hu-HU" sz="1500" b="1" dirty="0"/>
              <a:t> &amp; Parallel </a:t>
            </a:r>
            <a:r>
              <a:rPr lang="hu-HU" sz="1500" b="1" dirty="0" err="1"/>
              <a:t>Moves</a:t>
            </a:r>
            <a:r>
              <a:rPr lang="hu-HU" sz="1500" dirty="0"/>
              <a:t>: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biztonságos mozgások keresése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ütközések elkerülése</a:t>
            </a:r>
          </a:p>
          <a:p>
            <a:pPr marL="685800" lvl="1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csatlakozás ellenőrzése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r>
              <a:rPr lang="hu-HU" sz="1500" dirty="0"/>
              <a:t>Egyetlen célt szolgál: a kiinduló konfigurációt több lépésen keresztül egy célszerkezetbe rendezze úgy, hogy a robotok mindig egy összefüggő alakot alkossanak.</a:t>
            </a:r>
          </a:p>
          <a:p>
            <a:pPr marL="228600" lvl="0" indent="-228600">
              <a:spcBef>
                <a:spcPts val="300"/>
              </a:spcBef>
              <a:spcAft>
                <a:spcPts val="300"/>
              </a:spcAft>
              <a:buSzPts val="2000"/>
            </a:pPr>
            <a:endParaRPr lang="hu-HU" sz="1500" dirty="0"/>
          </a:p>
        </p:txBody>
      </p:sp>
    </p:spTree>
    <p:extLst>
      <p:ext uri="{BB962C8B-B14F-4D97-AF65-F5344CB8AC3E}">
        <p14:creationId xmlns:p14="http://schemas.microsoft.com/office/powerpoint/2010/main" val="375195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11631946-EA1B-9154-B5A6-236CBBF7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>
            <a:extLst>
              <a:ext uri="{FF2B5EF4-FFF2-40B4-BE49-F238E27FC236}">
                <a16:creationId xmlns:a16="http://schemas.microsoft.com/office/drawing/2014/main" id="{ACA2788D-E861-7CA3-5F8D-F1B2943CE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>
            <a:extLst>
              <a:ext uri="{FF2B5EF4-FFF2-40B4-BE49-F238E27FC236}">
                <a16:creationId xmlns:a16="http://schemas.microsoft.com/office/drawing/2014/main" id="{64C1E099-D3F7-B844-61FC-85CAA6A978A4}"/>
              </a:ext>
            </a:extLst>
          </p:cNvPr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>
            <a:extLst>
              <a:ext uri="{FF2B5EF4-FFF2-40B4-BE49-F238E27FC236}">
                <a16:creationId xmlns:a16="http://schemas.microsoft.com/office/drawing/2014/main" id="{D02F2174-52EA-8673-2982-C6638543DEFB}"/>
              </a:ext>
            </a:extLst>
          </p:cNvPr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>
            <a:extLst>
              <a:ext uri="{FF2B5EF4-FFF2-40B4-BE49-F238E27FC236}">
                <a16:creationId xmlns:a16="http://schemas.microsoft.com/office/drawing/2014/main" id="{13586E5D-6BB2-C618-E16C-2B25615857AC}"/>
              </a:ext>
            </a:extLst>
          </p:cNvPr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>
            <a:extLst>
              <a:ext uri="{FF2B5EF4-FFF2-40B4-BE49-F238E27FC236}">
                <a16:creationId xmlns:a16="http://schemas.microsoft.com/office/drawing/2014/main" id="{0F3647D5-55CD-CC43-A0CC-F18BC72ED129}"/>
              </a:ext>
            </a:extLst>
          </p:cNvPr>
          <p:cNvSpPr/>
          <p:nvPr/>
        </p:nvSpPr>
        <p:spPr>
          <a:xfrm>
            <a:off x="229675" y="36884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>
            <a:extLst>
              <a:ext uri="{FF2B5EF4-FFF2-40B4-BE49-F238E27FC236}">
                <a16:creationId xmlns:a16="http://schemas.microsoft.com/office/drawing/2014/main" id="{EF35EDFF-02AE-81DA-0017-8C1C16F14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ts val="4000"/>
            </a:pPr>
            <a:r>
              <a:rPr lang="hu-HU" sz="4000" dirty="0">
                <a:solidFill>
                  <a:schemeClr val="bg1"/>
                </a:solidFill>
              </a:rPr>
              <a:t>Hogyan működik a párhuzamos mozgás?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AF1768BF-71CA-6479-DC63-0E11225F0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5101" y="1691375"/>
            <a:ext cx="10781793" cy="510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>
              <a:spcBef>
                <a:spcPts val="100"/>
              </a:spcBef>
              <a:spcAft>
                <a:spcPts val="100"/>
              </a:spcAft>
              <a:buSzPts val="2000"/>
            </a:pPr>
            <a:r>
              <a:rPr lang="hu-HU" sz="1600" dirty="0"/>
              <a:t>A párhuzamos mozgatás lényege:</a:t>
            </a:r>
            <a:br>
              <a:rPr lang="hu-HU" sz="1600" dirty="0"/>
            </a:br>
            <a:r>
              <a:rPr lang="hu-HU" sz="1600" b="1" dirty="0"/>
              <a:t>több robot egyszerre mozoghat anélkül, hogy ütköznének, egymás helyére lépnének, vagy szétszakítanák a szerkezetet.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Célkiosztás</a:t>
            </a:r>
            <a:r>
              <a:rPr lang="hu-HU" sz="1600" dirty="0"/>
              <a:t>: minden robot kap egy saját célpozíciót (legtöbbször a hozzá legközelebbit).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Lépésjavaslat</a:t>
            </a:r>
            <a:r>
              <a:rPr lang="hu-HU" sz="1600" dirty="0"/>
              <a:t>: minden robot javasol egy </a:t>
            </a:r>
            <a:r>
              <a:rPr lang="hu-HU" sz="1600" i="1" dirty="0" err="1"/>
              <a:t>kardinalis</a:t>
            </a:r>
            <a:r>
              <a:rPr lang="hu-HU" sz="1600" dirty="0"/>
              <a:t> lépést (fel/le/balra/jobbra), ami közelebb viszi a célhoz.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Ütközések szűrése</a:t>
            </a:r>
            <a:r>
              <a:rPr lang="hu-HU" sz="1600" dirty="0"/>
              <a:t>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két robot nem léphet ugyanarra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nem cserélhetnek helyet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nem keresztezik egymást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Csatlakozás ellenőrzése</a:t>
            </a:r>
            <a:r>
              <a:rPr lang="hu-HU" sz="1600" dirty="0"/>
              <a:t>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a rendszer teszteli: a lépés után </a:t>
            </a:r>
            <a:r>
              <a:rPr lang="hu-HU" sz="1600" b="1" dirty="0"/>
              <a:t>egy darabban marad-e</a:t>
            </a:r>
            <a:r>
              <a:rPr lang="hu-HU" sz="1600" dirty="0"/>
              <a:t> a robotstruktúra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ha nem → lépés elvetve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Maximális biztonságos lépéscsomag kiválasztása</a:t>
            </a:r>
            <a:r>
              <a:rPr lang="hu-HU" sz="1600" dirty="0"/>
              <a:t>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egyszerre minél több robot mozoghat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Visszaesési stratégia</a:t>
            </a:r>
            <a:r>
              <a:rPr lang="hu-HU" sz="1600" dirty="0"/>
              <a:t>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ha senki nem tud tömegben lépni → legalább 1 robot lépjen biztonságosan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hu-HU" sz="1600" dirty="0"/>
              <a:t>így </a:t>
            </a:r>
            <a:r>
              <a:rPr lang="hu-HU" sz="1600" i="1" dirty="0"/>
              <a:t>soha nem akad el</a:t>
            </a:r>
            <a:r>
              <a:rPr lang="hu-HU" sz="1600" dirty="0"/>
              <a:t> a program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hu-HU" sz="1600" b="1" dirty="0"/>
              <a:t>Kulcsötlet:</a:t>
            </a:r>
            <a:br>
              <a:rPr lang="hu-HU" sz="1600" dirty="0"/>
            </a:br>
            <a:r>
              <a:rPr lang="hu-HU" sz="1600" dirty="0"/>
              <a:t>a lépések </a:t>
            </a:r>
            <a:r>
              <a:rPr lang="hu-HU" sz="1600" b="1" dirty="0"/>
              <a:t>egyszerre</a:t>
            </a:r>
            <a:r>
              <a:rPr lang="hu-HU" sz="1600" dirty="0"/>
              <a:t>, </a:t>
            </a:r>
            <a:r>
              <a:rPr lang="hu-HU" sz="1600" dirty="0" err="1"/>
              <a:t>atomikusan</a:t>
            </a:r>
            <a:r>
              <a:rPr lang="hu-HU" sz="1600" dirty="0"/>
              <a:t> történnek — így a robotok nem zavarják egymást, és valós párhuzamos mozgás valósul meg.</a:t>
            </a:r>
          </a:p>
          <a:p>
            <a:pPr marL="228600" lvl="0" indent="-228600">
              <a:spcBef>
                <a:spcPts val="100"/>
              </a:spcBef>
              <a:spcAft>
                <a:spcPts val="100"/>
              </a:spcAft>
              <a:buSzPts val="2000"/>
            </a:pP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05793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hu-HU" sz="4000">
                <a:solidFill>
                  <a:srgbClr val="FFFFFF"/>
                </a:solidFill>
              </a:rPr>
              <a:t>Eredmények</a:t>
            </a:r>
            <a:endParaRPr/>
          </a:p>
        </p:txBody>
      </p:sp>
      <p:pic>
        <p:nvPicPr>
          <p:cNvPr id="169" name="Google Shape;169;p20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00" y="1823050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>
            <a:spLocks noGrp="1"/>
          </p:cNvSpPr>
          <p:nvPr>
            <p:ph type="body" idx="1"/>
          </p:nvPr>
        </p:nvSpPr>
        <p:spPr>
          <a:xfrm>
            <a:off x="6423625" y="2019600"/>
            <a:ext cx="4979700" cy="43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hu-HU" sz="2300"/>
              <a:t>Összesen ~7500 sikeres futtatás</a:t>
            </a:r>
            <a:endParaRPr sz="2300"/>
          </a:p>
          <a:p>
            <a:pPr marL="22860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u-HU" sz="2300"/>
              <a:t>~62%-os sikerráta</a:t>
            </a:r>
            <a:endParaRPr sz="2300"/>
          </a:p>
          <a:p>
            <a:pPr marL="22860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u-HU" sz="2300"/>
              <a:t>A worst-case optimal algoritmus O(P)</a:t>
            </a:r>
            <a:endParaRPr sz="2300"/>
          </a:p>
          <a:p>
            <a:pPr marL="22860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u-HU" sz="2300"/>
              <a:t>Ez a plot lineáris?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708</Words>
  <Application>Microsoft Office PowerPoint</Application>
  <PresentationFormat>Szélesvásznú</PresentationFormat>
  <Paragraphs>92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Arial</vt:lpstr>
      <vt:lpstr>Play</vt:lpstr>
      <vt:lpstr>Office-téma</vt:lpstr>
      <vt:lpstr>Sliding Squares in Parallel</vt:lpstr>
      <vt:lpstr>Az alapprobléma</vt:lpstr>
      <vt:lpstr>Worst-case optimal algorithm</vt:lpstr>
      <vt:lpstr>I. fázis: Exoskeleton építése</vt:lpstr>
      <vt:lpstr>II. fázis: Scaffolding</vt:lpstr>
      <vt:lpstr>III. fázis: Sweeping into a histogram </vt:lpstr>
      <vt:lpstr>IV. fázis: Hisztogram-átalakítás</vt:lpstr>
      <vt:lpstr>Szimulációs program</vt:lpstr>
      <vt:lpstr>Program felépítése</vt:lpstr>
      <vt:lpstr>Hogyan működik a párhuzamos mozgás?</vt:lpstr>
      <vt:lpstr>Eredmények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Lamelo2@sulid.hu</cp:lastModifiedBy>
  <cp:revision>5</cp:revision>
  <dcterms:modified xsi:type="dcterms:W3CDTF">2025-12-04T07:48:36Z</dcterms:modified>
</cp:coreProperties>
</file>