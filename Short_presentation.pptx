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63" r:id="rId17"/>
  </p:sldIdLst>
  <p:sldSz cx="12192000" cy="6858000"/>
  <p:notesSz cx="6858000" cy="9144000"/>
  <p:embeddedFontLst>
    <p:embeddedFont>
      <p:font typeface="Play" panose="020B0604020202020204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D089CCDD-3B60-5198-3F4D-CC776CBFA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65927042-CE51-0AE3-9346-82856D638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09B2CF83-FCC3-6483-0BC3-35F0C403C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48184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ACF42885-9AC5-984E-50CC-D20E2B978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9C200644-85E2-E444-00E1-00E6A32C7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95F748B2-62B1-9C4B-68E7-E7A1684D6C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57399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853848-DDE5-36A4-42AF-26C04400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F0316458-BA8F-D138-3322-5FFB429B6A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D228C90C-6AE5-84A5-42D4-2EE2EDD38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7290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03FB2E-81A7-483B-BB3E-61731A268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383013B7-54EC-ED28-FE59-6C632BB5F5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A087C68C-2532-6CC0-E44A-2472A1FB52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932917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DF1AA4-21BC-A97E-D4B1-A9405F8C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874CC49C-470F-A101-13FC-551E1C2E50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2A1EDC19-FBDC-5BAB-36CB-E093327F8F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7368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B63AEECA-AC82-F63E-576A-825284513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5A3932C5-84C1-FEFC-DBC9-A99898FB7B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EF0F0920-6F61-E6F9-D553-547CEA054A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5001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B0F9DC59-D099-5977-1BA8-534157CB3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45AE8B85-15AB-E5C9-964B-33AEDF3F19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EB28BA59-258F-52B9-B67D-CF9BD73C91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519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4C35E76B-179B-2803-270C-A071C919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D574AC6E-7659-9C30-2A27-90502A051A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4E4718E7-B69A-61C3-B61F-D6AB96073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38003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d0f6acda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3ad0f6acda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rgbClr val="0A3041"/>
              </a:gs>
              <a:gs pos="100000">
                <a:srgbClr val="000000"/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0">
                <a:srgbClr val="0F4861">
                  <a:alpha val="58823"/>
                </a:srgbClr>
              </a:gs>
              <a:gs pos="1000">
                <a:srgbClr val="0F4861">
                  <a:alpha val="58823"/>
                </a:srgb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/>
          <p:nvPr/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00000">
                  <a:alpha val="27843"/>
                </a:srgbClr>
              </a:gs>
              <a:gs pos="100000">
                <a:srgbClr val="000000">
                  <a:alpha val="27843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/>
          <p:nvPr/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F4861">
                  <a:alpha val="49803"/>
                </a:srgbClr>
              </a:gs>
              <a:gs pos="100000">
                <a:srgbClr val="0F4861">
                  <a:alpha val="49803"/>
                </a:srgbClr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/>
          <p:nvPr/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0">
                <a:srgbClr val="000000">
                  <a:alpha val="34901"/>
                </a:srgbClr>
              </a:gs>
              <a:gs pos="13000">
                <a:srgbClr val="000000">
                  <a:alpha val="34901"/>
                </a:srgbClr>
              </a:gs>
              <a:gs pos="99000">
                <a:srgbClr val="0F4861">
                  <a:alpha val="0"/>
                </a:srgbClr>
              </a:gs>
              <a:gs pos="100000">
                <a:srgbClr val="0F4861">
                  <a:alpha val="0"/>
                </a:srgbClr>
              </a:gs>
            </a:gsLst>
            <a:lin ang="4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987713" y="4049"/>
            <a:ext cx="10216576" cy="4729040"/>
          </a:xfrm>
          <a:custGeom>
            <a:avLst/>
            <a:gdLst/>
            <a:ahLst/>
            <a:cxnLst/>
            <a:rect l="l" t="t" r="r" b="b"/>
            <a:pathLst>
              <a:path w="10216576" h="4729040" extrusionOk="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0">
                <a:srgbClr val="0A3041">
                  <a:alpha val="3921"/>
                </a:srgbClr>
              </a:gs>
              <a:gs pos="7000">
                <a:srgbClr val="0A3041">
                  <a:alpha val="3921"/>
                </a:srgbClr>
              </a:gs>
              <a:gs pos="99000">
                <a:srgbClr val="156082">
                  <a:alpha val="23921"/>
                </a:srgbClr>
              </a:gs>
              <a:gs pos="100000">
                <a:srgbClr val="156082">
                  <a:alpha val="23921"/>
                </a:srgbClr>
              </a:gs>
            </a:gsLst>
            <a:lin ang="10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Play"/>
              <a:buNone/>
            </a:pPr>
            <a:r>
              <a:rPr lang="hu-HU" sz="4800">
                <a:solidFill>
                  <a:srgbClr val="FFFFFF"/>
                </a:solidFill>
              </a:rPr>
              <a:t>Sliding Squares in Parallel</a:t>
            </a:r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2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</a:pPr>
            <a:r>
              <a:rPr lang="hu-HU" sz="2200">
                <a:solidFill>
                  <a:srgbClr val="FFFFFF"/>
                </a:solidFill>
              </a:rPr>
              <a:t>KÉSZÍTETTE: 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</a:pPr>
            <a:r>
              <a:rPr lang="hu-HU" sz="2200">
                <a:solidFill>
                  <a:srgbClr val="FFFFFF"/>
                </a:solidFill>
              </a:rPr>
              <a:t>GERGELYI LAURA BOGLÁRKA, SZÁSZ KRISTÓF RÓBERT, KISS MARCELL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Az alapprobléma</a:t>
            </a:r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-127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Bemenet: kezdő alak C1​, cél alak C2​.</a:t>
            </a:r>
            <a:endParaRPr/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Feladat: legális párhuzamos mozdulatok sorozatával </a:t>
            </a:r>
            <a:r>
              <a:rPr lang="hu-HU" sz="2000">
                <a:latin typeface="Arial"/>
                <a:ea typeface="Arial"/>
                <a:cs typeface="Arial"/>
                <a:sym typeface="Arial"/>
              </a:rPr>
              <a:t>C1 -&gt; C2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​.</a:t>
            </a:r>
            <a:endParaRPr/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Korlátok:</a:t>
            </a:r>
            <a:endParaRPr/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Összefüggőség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megőrzése (mindig legyen kapcsolat).</a:t>
            </a:r>
            <a:endParaRPr/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Ütközésmentesség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(a mozdulatok ne fedjék egymást).</a:t>
            </a:r>
            <a:endParaRPr/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Kimenet: átalakulási ütemezés (minden lépésben több modul is mozoghat).</a:t>
            </a:r>
            <a:endParaRPr/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Cél: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minimalizálni a </a:t>
            </a: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makespant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(párhuzamos lépések számát).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5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Worst-case optimal algorithm</a:t>
            </a:r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A 4 fázis: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Exoskeleton építése (Gathering Squares)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Scaffolding (állványzat) kialakítása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Söprés (Sweeping) – hisztogrammá alakítás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Hisztogram-átalakítás (Histogram Transformation)</a:t>
            </a:r>
            <a:endParaRPr sz="200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6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I. fázis: Exoskeleton építése</a:t>
            </a:r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 b="1"/>
              <a:t>Cél: </a:t>
            </a:r>
            <a:r>
              <a:rPr lang="hu-HU" sz="1900"/>
              <a:t>Egy stabil, manipulálható </a:t>
            </a:r>
            <a:r>
              <a:rPr lang="hu-HU" sz="1900" b="1"/>
              <a:t>exoskeleton</a:t>
            </a:r>
            <a:r>
              <a:rPr lang="hu-HU" sz="1900"/>
              <a:t> kialakítása a kezdeti alakból.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 b="1"/>
              <a:t>Lépések:</a:t>
            </a:r>
            <a:endParaRPr sz="19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Kiszámítjuk a </a:t>
            </a:r>
            <a:r>
              <a:rPr lang="hu-HU" sz="1900" b="1"/>
              <a:t>vázat (skeleton)</a:t>
            </a:r>
            <a:r>
              <a:rPr lang="hu-HU" sz="1900"/>
              <a:t> – fa-szerű mag.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Kiválasztunk egy nagyobb </a:t>
            </a:r>
            <a:r>
              <a:rPr lang="hu-HU" sz="1900" b="1"/>
              <a:t>részfát</a:t>
            </a:r>
            <a:r>
              <a:rPr lang="hu-HU" sz="1900"/>
              <a:t> 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Körbevesszük egy </a:t>
            </a:r>
            <a:r>
              <a:rPr lang="hu-HU" sz="1900" b="1"/>
              <a:t>héjjal (shell)</a:t>
            </a:r>
            <a:r>
              <a:rPr lang="hu-HU" sz="1900"/>
              <a:t>, így lesz </a:t>
            </a:r>
            <a:r>
              <a:rPr lang="hu-HU" sz="1900" b="1"/>
              <a:t>core + shell</a:t>
            </a:r>
            <a:r>
              <a:rPr lang="hu-HU" sz="1900"/>
              <a:t> szerkezet.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belső részben legalább egy cella üres marad, hogy a modulok mozoghassanak.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mozgatásokhoz </a:t>
            </a:r>
            <a:r>
              <a:rPr lang="hu-HU" sz="1900" b="1"/>
              <a:t>Inchworm-Push</a:t>
            </a:r>
            <a:r>
              <a:rPr lang="hu-HU" sz="1900"/>
              <a:t> és </a:t>
            </a:r>
            <a:r>
              <a:rPr lang="hu-HU" sz="1900" b="1"/>
              <a:t>Inchworm-Pull</a:t>
            </a:r>
            <a:r>
              <a:rPr lang="hu-HU" sz="1900"/>
              <a:t> lokális műveleteket használunk.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 b="1"/>
              <a:t>Eredmény:</a:t>
            </a:r>
            <a:br>
              <a:rPr lang="hu-HU" sz="1900"/>
            </a:br>
            <a:r>
              <a:rPr lang="hu-HU" sz="1900"/>
              <a:t>Nagy, összefüggő exoskeleton.</a:t>
            </a:r>
            <a:endParaRPr/>
          </a:p>
          <a:p>
            <a:pPr marL="228600" lvl="0" indent="-1079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endParaRPr sz="1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7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7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7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II. fázis: Scaffolding</a:t>
            </a:r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Cél:</a:t>
            </a:r>
            <a:br>
              <a:rPr lang="hu-HU" sz="2000"/>
            </a:br>
            <a:r>
              <a:rPr lang="hu-HU" sz="2000"/>
              <a:t>Az exoskeletonból </a:t>
            </a:r>
            <a:r>
              <a:rPr lang="hu-HU" sz="2000" b="1"/>
              <a:t>T-alakú állvány</a:t>
            </a:r>
            <a:r>
              <a:rPr lang="hu-HU" sz="2000"/>
              <a:t> létrehozása a bounding boxon belül.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Fő lépések: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exoskeletont </a:t>
            </a:r>
            <a:r>
              <a:rPr lang="hu-HU" sz="2000" b="1"/>
              <a:t>tömörítjük</a:t>
            </a:r>
            <a:r>
              <a:rPr lang="hu-HU" sz="2000"/>
              <a:t>, hogy a mag szilárd tömb legyen.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 jobb szélső pontból </a:t>
            </a:r>
            <a:r>
              <a:rPr lang="hu-HU" sz="2000" b="1"/>
              <a:t>vízszintes kar</a:t>
            </a:r>
            <a:r>
              <a:rPr lang="hu-HU" sz="2000"/>
              <a:t> nő ki (3×3 blokk).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Ezt </a:t>
            </a:r>
            <a:r>
              <a:rPr lang="hu-HU" sz="2000" b="1"/>
              <a:t>függőlegesen</a:t>
            </a:r>
            <a:r>
              <a:rPr lang="hu-HU" sz="2000"/>
              <a:t> kiterjesztjük felfelé és lefelé.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➡ Ezzel egy </a:t>
            </a:r>
            <a:r>
              <a:rPr lang="hu-HU" sz="2000" b="1"/>
              <a:t>függőleges söprővonal</a:t>
            </a:r>
            <a:r>
              <a:rPr lang="hu-HU" sz="2000"/>
              <a:t> jön létre,</a:t>
            </a:r>
            <a:br>
              <a:rPr lang="hu-HU" sz="2000"/>
            </a:br>
            <a:r>
              <a:rPr lang="hu-HU" sz="2000"/>
              <a:t>amely a 3. fázis során vezeti a mozgást.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8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8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lay"/>
              <a:buNone/>
            </a:pPr>
            <a:r>
              <a:rPr lang="hu-HU" sz="4000">
                <a:solidFill>
                  <a:schemeClr val="lt1"/>
                </a:solidFill>
              </a:rPr>
              <a:t>III. fázis: Sweeping into a histogram </a:t>
            </a:r>
            <a:endParaRPr/>
          </a:p>
        </p:txBody>
      </p:sp>
      <p:sp>
        <p:nvSpPr>
          <p:cNvPr id="147" name="Google Shape;147;p18"/>
          <p:cNvSpPr txBox="1">
            <a:spLocks noGrp="1"/>
          </p:cNvSpPr>
          <p:nvPr>
            <p:ph type="body" idx="1"/>
          </p:nvPr>
        </p:nvSpPr>
        <p:spPr>
          <a:xfrm>
            <a:off x="1371599" y="1885279"/>
            <a:ext cx="9724031" cy="4374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Cél:</a:t>
            </a:r>
            <a:br>
              <a:rPr lang="hu-HU" sz="1700"/>
            </a:br>
            <a:r>
              <a:rPr lang="hu-HU" sz="1700"/>
              <a:t>A teljes konfigurációt „lesöpörni” hisztogram-alakra.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Fő ötlet:</a:t>
            </a:r>
            <a:endParaRPr sz="17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Bevezetjük a </a:t>
            </a:r>
            <a:r>
              <a:rPr lang="hu-HU" sz="1700" b="1"/>
              <a:t>meta-modulokat</a:t>
            </a:r>
            <a:r>
              <a:rPr lang="hu-HU" sz="1700"/>
              <a:t> (3×3 vagy 8-cellás „O”-formák).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Egy </a:t>
            </a:r>
            <a:r>
              <a:rPr lang="hu-HU" sz="1700" b="1"/>
              <a:t>sweep line</a:t>
            </a:r>
            <a:r>
              <a:rPr lang="hu-HU" sz="1700"/>
              <a:t>-t képezünk meta-modulokból.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Két váltakozó fázis: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Clean</a:t>
            </a:r>
            <a:r>
              <a:rPr lang="hu-HU" sz="1700"/>
              <a:t> – hiányzó cellák feltöltése .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Advance</a:t>
            </a:r>
            <a:r>
              <a:rPr lang="hu-HU" sz="1700"/>
              <a:t> – a söprővonal egy oszloppal balra mozdul.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A folyamatot ismételve a teljes terület „kitakarításra kerül”.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Eredmény:</a:t>
            </a:r>
            <a:br>
              <a:rPr lang="hu-HU" sz="1700"/>
            </a:br>
            <a:r>
              <a:rPr lang="hu-HU" sz="1700"/>
              <a:t>Egy jól strukturált, </a:t>
            </a:r>
            <a:r>
              <a:rPr lang="hu-HU" sz="1700" b="1"/>
              <a:t>x-monoton hisztogram</a:t>
            </a:r>
            <a:r>
              <a:rPr lang="hu-HU" sz="1700"/>
              <a:t> konfiguráció.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IV. fázis: Hisztogram-átalakítás</a:t>
            </a:r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 dirty="0"/>
              <a:t>Cél:</a:t>
            </a:r>
            <a:br>
              <a:rPr lang="hu-HU" sz="2000" dirty="0"/>
            </a:br>
            <a:r>
              <a:rPr lang="hu-HU" sz="2000" dirty="0"/>
              <a:t>Az elkészült hisztogramot átalakítani a célalak hisztogramjává.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 dirty="0"/>
              <a:t>Lépések:</a:t>
            </a:r>
            <a:endParaRPr sz="20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 dirty="0"/>
              <a:t>Skálázás</a:t>
            </a:r>
            <a:r>
              <a:rPr lang="hu-HU" sz="2000" dirty="0"/>
              <a:t> – a hisztogramot 3×3-as rácsra igazítjuk.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dirty="0"/>
              <a:t>Az alak </a:t>
            </a:r>
            <a:r>
              <a:rPr lang="hu-HU" sz="2000" b="1" dirty="0"/>
              <a:t>x-monotonból xy-monotonná</a:t>
            </a:r>
            <a:r>
              <a:rPr lang="hu-HU" sz="2000" dirty="0"/>
              <a:t> válik (két alapvonal mentén).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 dirty="0"/>
              <a:t>Eredmény:</a:t>
            </a:r>
            <a:br>
              <a:rPr lang="hu-HU" sz="2000" dirty="0"/>
            </a:br>
            <a:r>
              <a:rPr lang="hu-HU" sz="2000" dirty="0"/>
              <a:t>A teljes átalakítás lezárul – a célkonfiguráció elérve,</a:t>
            </a:r>
            <a:br>
              <a:rPr lang="hu-HU" sz="2000" dirty="0"/>
            </a:br>
            <a:r>
              <a:rPr lang="hu-HU" sz="2000" dirty="0"/>
              <a:t>összefüggő és optimális időben.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9C5FE20-9659-0567-DA70-C01E77FC4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EE6B3114-F95C-F676-56D9-8DD6C81433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37AEC178-6C1E-540E-AD55-A4A6A1BD743D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60CC6D3C-D6DD-27D8-E6D8-8FF3337954D4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C6FE7FD4-6C76-19C6-D936-5D4816C143EF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6C7FDAA8-57C8-D225-FB0F-878EA0039585}"/>
              </a:ext>
            </a:extLst>
          </p:cNvPr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192E853D-72B5-AEEC-E142-29392E8228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 dirty="0">
                <a:solidFill>
                  <a:srgbClr val="FFFFFF"/>
                </a:solidFill>
              </a:rPr>
              <a:t>Szimulációs program</a:t>
            </a:r>
            <a:endParaRPr dirty="0"/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B7284C3C-3414-D29A-5A77-0010B8C380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23135" y="1464230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>
              <a:spcBef>
                <a:spcPts val="0"/>
              </a:spcBef>
              <a:buSzPts val="2000"/>
            </a:pPr>
            <a:r>
              <a:rPr lang="hu-HU" sz="2000" b="1" dirty="0"/>
              <a:t>Technológiák</a:t>
            </a:r>
          </a:p>
          <a:p>
            <a:pPr marL="685800" lvl="1" indent="-228600">
              <a:spcBef>
                <a:spcPts val="0"/>
              </a:spcBef>
              <a:buSzPts val="2000"/>
            </a:pPr>
            <a:r>
              <a:rPr lang="hu-HU" sz="2000" dirty="0"/>
              <a:t>Python 3 – a teljes logika megvalósítása</a:t>
            </a:r>
          </a:p>
          <a:p>
            <a:pPr marL="685800" lvl="1" indent="-228600">
              <a:spcBef>
                <a:spcPts val="0"/>
              </a:spcBef>
              <a:buSzPts val="2000"/>
            </a:pPr>
            <a:r>
              <a:rPr lang="hu-HU" sz="2000" dirty="0" err="1"/>
              <a:t>Tkinter</a:t>
            </a:r>
            <a:r>
              <a:rPr lang="hu-HU" sz="2000" dirty="0"/>
              <a:t> – grafikus felület (modulok kirajzolása, lépésről lépésre animáció)</a:t>
            </a:r>
          </a:p>
          <a:p>
            <a:pPr marL="685800" lvl="1" indent="-228600">
              <a:spcBef>
                <a:spcPts val="0"/>
              </a:spcBef>
              <a:buSzPts val="2000"/>
            </a:pPr>
            <a:r>
              <a:rPr lang="hu-HU" sz="2000" dirty="0" err="1"/>
              <a:t>Object-oriented</a:t>
            </a:r>
            <a:r>
              <a:rPr lang="hu-HU" sz="2000" dirty="0"/>
              <a:t> struktúra – jól szeparált modulok, könnyű bővíthetőség</a:t>
            </a:r>
          </a:p>
          <a:p>
            <a:pPr marL="685800" lvl="1" indent="-228600">
              <a:spcBef>
                <a:spcPts val="0"/>
              </a:spcBef>
              <a:buSzPts val="2000"/>
            </a:pPr>
            <a:r>
              <a:rPr lang="hu-HU" sz="2000" dirty="0" err="1"/>
              <a:t>Deepcopy</a:t>
            </a:r>
            <a:r>
              <a:rPr lang="hu-HU" sz="2000" dirty="0"/>
              <a:t> alapú szimuláció – biztonságos állapotkezelés a tervezési lépésekhez</a:t>
            </a:r>
          </a:p>
        </p:txBody>
      </p:sp>
    </p:spTree>
    <p:extLst>
      <p:ext uri="{BB962C8B-B14F-4D97-AF65-F5344CB8AC3E}">
        <p14:creationId xmlns:p14="http://schemas.microsoft.com/office/powerpoint/2010/main" val="1479514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DE550FCA-6819-F635-28AB-1E5651C9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754EEE2C-AD6D-8070-4492-846B01A9A5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2DD1AF14-07D5-1904-E3D6-63AA33714B24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2E98F275-C900-0E81-2C49-82ABDA2B2E11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5AFCF50F-F014-B696-2CD2-A34CC5F1EB49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82986323-6143-C9D6-407C-16FE56AD3783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734C71B4-4FE1-AFC2-E39A-45214BEA33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 dirty="0">
                <a:solidFill>
                  <a:srgbClr val="FFFFFF"/>
                </a:solidFill>
              </a:rPr>
              <a:t>Program felépítése</a:t>
            </a:r>
            <a:endParaRPr dirty="0"/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93C4E0EB-AFEB-9B30-BA04-0E44A13AB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2215" y="2257338"/>
            <a:ext cx="10133585" cy="3977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b="1" dirty="0" err="1"/>
              <a:t>Environment</a:t>
            </a:r>
            <a:r>
              <a:rPr lang="hu-HU" sz="1500" dirty="0"/>
              <a:t>: a “játszótér”, ahol a modulok mozognak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Atomi lépésvégrehajtás (minden robot egyszerre ugrik)</a:t>
            </a:r>
          </a:p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b="1" dirty="0" err="1"/>
              <a:t>Grid</a:t>
            </a:r>
            <a:r>
              <a:rPr lang="hu-HU" sz="1500" dirty="0"/>
              <a:t>: tárolja, melyik cellát melyik modul foglalja</a:t>
            </a:r>
          </a:p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b="1" dirty="0" err="1"/>
              <a:t>Module</a:t>
            </a:r>
            <a:r>
              <a:rPr lang="hu-HU" sz="1500" b="1" dirty="0"/>
              <a:t> &amp; </a:t>
            </a:r>
            <a:r>
              <a:rPr lang="hu-HU" sz="1500" b="1" dirty="0" err="1"/>
              <a:t>Move</a:t>
            </a:r>
            <a:r>
              <a:rPr lang="hu-HU" sz="1500" b="1" dirty="0"/>
              <a:t>: </a:t>
            </a:r>
            <a:r>
              <a:rPr lang="hu-HU" sz="1500" dirty="0"/>
              <a:t>modulok és a lehetséges irányok</a:t>
            </a:r>
          </a:p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b="1" dirty="0" err="1"/>
              <a:t>Phases</a:t>
            </a:r>
            <a:r>
              <a:rPr lang="hu-HU" sz="1500" b="1" dirty="0"/>
              <a:t> 1–4</a:t>
            </a:r>
            <a:r>
              <a:rPr lang="hu-HU" sz="1500" dirty="0"/>
              <a:t>: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1: </a:t>
            </a:r>
            <a:r>
              <a:rPr lang="hu-HU" sz="1500" dirty="0" err="1"/>
              <a:t>Exoskeleton</a:t>
            </a:r>
            <a:r>
              <a:rPr lang="hu-HU" sz="1500" dirty="0"/>
              <a:t> építés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2: </a:t>
            </a:r>
            <a:r>
              <a:rPr lang="hu-HU" sz="1500" dirty="0" err="1"/>
              <a:t>Scaffolding</a:t>
            </a:r>
            <a:endParaRPr lang="hu-HU" sz="1500" dirty="0"/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3: </a:t>
            </a:r>
            <a:r>
              <a:rPr lang="hu-HU" sz="1500" dirty="0" err="1"/>
              <a:t>Histogram</a:t>
            </a:r>
            <a:r>
              <a:rPr lang="hu-HU" sz="1500" dirty="0"/>
              <a:t> átrendezés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4: Párhuzamos mozgással célalakzat elérése</a:t>
            </a:r>
          </a:p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b="1" dirty="0" err="1"/>
              <a:t>Skeleton</a:t>
            </a:r>
            <a:r>
              <a:rPr lang="hu-HU" sz="1500" b="1" dirty="0"/>
              <a:t> &amp; Parallel </a:t>
            </a:r>
            <a:r>
              <a:rPr lang="hu-HU" sz="1500" b="1" dirty="0" err="1"/>
              <a:t>Moves</a:t>
            </a:r>
            <a:r>
              <a:rPr lang="hu-HU" sz="1500" dirty="0"/>
              <a:t>: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biztonságos mozgások keresése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ütközések elkerülése</a:t>
            </a:r>
          </a:p>
          <a:p>
            <a:pPr marL="685800" lvl="1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csatlakozás ellenőrzése</a:t>
            </a:r>
          </a:p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r>
              <a:rPr lang="hu-HU" sz="1500" dirty="0"/>
              <a:t>Egyetlen célt szolgál: a kiinduló konfigurációt több lépésen keresztül egy célszerkezetbe rendezze úgy, hogy a robotok mindig egy összefüggő alakot alkossanak.</a:t>
            </a:r>
          </a:p>
          <a:p>
            <a:pPr marL="228600" lvl="0" indent="-228600">
              <a:spcBef>
                <a:spcPts val="300"/>
              </a:spcBef>
              <a:spcAft>
                <a:spcPts val="300"/>
              </a:spcAft>
              <a:buSzPts val="2000"/>
            </a:pPr>
            <a:endParaRPr lang="hu-HU" sz="1500" dirty="0"/>
          </a:p>
        </p:txBody>
      </p:sp>
    </p:spTree>
    <p:extLst>
      <p:ext uri="{BB962C8B-B14F-4D97-AF65-F5344CB8AC3E}">
        <p14:creationId xmlns:p14="http://schemas.microsoft.com/office/powerpoint/2010/main" val="3751957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11631946-EA1B-9154-B5A6-236CBBF76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ACA2788D-E861-7CA3-5F8D-F1B2943CE2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64C1E099-D3F7-B844-61FC-85CAA6A978A4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D02F2174-52EA-8673-2982-C6638543DEFB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13586E5D-6BB2-C618-E16C-2B25615857AC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0F3647D5-55CD-CC43-A0CC-F18BC72ED129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EF35EDFF-02AE-81DA-0017-8C1C16F141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FFFFFF"/>
              </a:buClr>
              <a:buSzPts val="4000"/>
            </a:pPr>
            <a:r>
              <a:rPr lang="hu-HU" sz="4000" dirty="0">
                <a:solidFill>
                  <a:schemeClr val="bg1"/>
                </a:solidFill>
              </a:rPr>
              <a:t>Hogyan működik a párhuzamos mozgás?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AF1768BF-71CA-6479-DC63-0E11225F03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r>
              <a:rPr lang="hu-HU" sz="1600" dirty="0"/>
              <a:t>A párhuzamos mozgatás lényege:</a:t>
            </a:r>
            <a:br>
              <a:rPr lang="hu-HU" sz="1600" dirty="0"/>
            </a:br>
            <a:r>
              <a:rPr lang="hu-HU" sz="1600" b="1" dirty="0"/>
              <a:t>több robot egyszerre mozoghat anélkül, hogy ütköznének, egymás helyére lépnének, vagy szétszakítanák a szerkezetet.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Célkiosztás</a:t>
            </a:r>
            <a:r>
              <a:rPr lang="hu-HU" sz="1600" dirty="0"/>
              <a:t>: minden robot kap egy saját célpozíciót (legtöbbször a hozzá legközelebbit).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Lépésjavaslat</a:t>
            </a:r>
            <a:r>
              <a:rPr lang="hu-HU" sz="1600" dirty="0"/>
              <a:t>: minden robot javasol egy </a:t>
            </a:r>
            <a:r>
              <a:rPr lang="hu-HU" sz="1600" i="1" dirty="0" err="1"/>
              <a:t>kardinalis</a:t>
            </a:r>
            <a:r>
              <a:rPr lang="hu-HU" sz="1600" dirty="0"/>
              <a:t> lépést (fel/le/balra/jobbra), ami közelebb viszi a célhoz.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Ütközések szűrése</a:t>
            </a:r>
            <a:r>
              <a:rPr lang="hu-HU" sz="1600" dirty="0"/>
              <a:t>: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két robot nem léphet ugyanarra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nem cserélhetnek helyet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nem keresztezik egymást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Csatlakozás ellenőrzése</a:t>
            </a:r>
            <a:r>
              <a:rPr lang="hu-HU" sz="1600" dirty="0"/>
              <a:t>: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a rendszer teszteli: a lépés után </a:t>
            </a:r>
            <a:r>
              <a:rPr lang="hu-HU" sz="1600" b="1" dirty="0"/>
              <a:t>egy darabban marad-e</a:t>
            </a:r>
            <a:r>
              <a:rPr lang="hu-HU" sz="1600" dirty="0"/>
              <a:t> a robotstruktúra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ha nem → lépés elvetve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Maximális biztonságos lépéscsomag kiválasztása</a:t>
            </a:r>
            <a:r>
              <a:rPr lang="hu-HU" sz="1600" dirty="0"/>
              <a:t>: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egyszerre minél több robot mozoghat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Visszaesési stratégia</a:t>
            </a:r>
            <a:r>
              <a:rPr lang="hu-HU" sz="1600" dirty="0"/>
              <a:t>: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ha senki nem tud tömegben lépni → legalább 1 robot lépjen biztonságosan</a:t>
            </a:r>
          </a:p>
          <a:p>
            <a:pPr lvl="1">
              <a:spcBef>
                <a:spcPts val="100"/>
              </a:spcBef>
              <a:spcAft>
                <a:spcPts val="100"/>
              </a:spcAft>
            </a:pPr>
            <a:r>
              <a:rPr lang="hu-HU" sz="1600" dirty="0"/>
              <a:t>így </a:t>
            </a:r>
            <a:r>
              <a:rPr lang="hu-HU" sz="1600" i="1" dirty="0"/>
              <a:t>soha nem akad el</a:t>
            </a:r>
            <a:r>
              <a:rPr lang="hu-HU" sz="1600" dirty="0"/>
              <a:t> a program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hu-HU" sz="1600" b="1" dirty="0"/>
              <a:t>Kulcsötlet:</a:t>
            </a:r>
            <a:br>
              <a:rPr lang="hu-HU" sz="1600" dirty="0"/>
            </a:br>
            <a:r>
              <a:rPr lang="hu-HU" sz="1600" dirty="0"/>
              <a:t>a lépések </a:t>
            </a:r>
            <a:r>
              <a:rPr lang="hu-HU" sz="1600" b="1" dirty="0"/>
              <a:t>egyszerre</a:t>
            </a:r>
            <a:r>
              <a:rPr lang="hu-HU" sz="1600" dirty="0"/>
              <a:t>, </a:t>
            </a:r>
            <a:r>
              <a:rPr lang="hu-HU" sz="1600" dirty="0" err="1"/>
              <a:t>atomikusan</a:t>
            </a:r>
            <a:r>
              <a:rPr lang="hu-HU" sz="1600" dirty="0"/>
              <a:t> történnek — így a robotok nem zavarják egymást, és valós párhuzamos mozgás valósul meg.</a:t>
            </a:r>
          </a:p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2057931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12737E98-C1CD-3FA1-D44E-573B6F51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46333494-3B2D-7C03-40FD-3F8B21E8BF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49B3BC16-B789-82EC-4931-B656832F02A8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93D11749-98CF-9709-0F6B-2AA8FCB55BB7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849E3A12-A91E-E7E6-D114-51E806397585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5B90F066-5E57-66AA-57F7-EBC7F0F374DB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9D2040CE-1951-5D50-EBA8-64C87B3E9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>
              <a:buClr>
                <a:srgbClr val="FFFFFF"/>
              </a:buClr>
              <a:buSzPts val="4000"/>
            </a:pPr>
            <a:r>
              <a:rPr lang="hu-HU" sz="4000" dirty="0" err="1">
                <a:solidFill>
                  <a:schemeClr val="bg1"/>
                </a:solidFill>
              </a:rPr>
              <a:t>Exoskeleton</a:t>
            </a:r>
            <a:r>
              <a:rPr lang="hu-HU" sz="4000" dirty="0">
                <a:solidFill>
                  <a:schemeClr val="bg1"/>
                </a:solidFill>
              </a:rPr>
              <a:t> építés: mérési eredmények (összefoglaló)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D5957C6E-B805-E2AC-41ED-F618F146C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r>
              <a:rPr lang="hu-HU" sz="1500" b="1" dirty="0"/>
              <a:t>Mit mértünk?</a:t>
            </a:r>
            <a:br>
              <a:rPr lang="hu-HU" sz="1500" dirty="0"/>
            </a:br>
            <a:r>
              <a:rPr lang="hu-HU" sz="1500" dirty="0"/>
              <a:t>– Az 1. fázisban hány </a:t>
            </a:r>
            <a:r>
              <a:rPr lang="hu-HU" sz="1500" i="1" dirty="0"/>
              <a:t>transzformáció</a:t>
            </a:r>
            <a:r>
              <a:rPr lang="hu-HU" sz="1500" dirty="0"/>
              <a:t> történt</a:t>
            </a:r>
            <a:br>
              <a:rPr lang="hu-HU" sz="1500" dirty="0"/>
            </a:br>
            <a:r>
              <a:rPr lang="hu-HU" sz="1500" dirty="0"/>
              <a:t>– Egy transzformáción belül hány modul tudott </a:t>
            </a:r>
            <a:r>
              <a:rPr lang="hu-HU" sz="1500" b="1" dirty="0"/>
              <a:t>párhuzamosan</a:t>
            </a:r>
            <a:r>
              <a:rPr lang="hu-HU" sz="1500" dirty="0"/>
              <a:t> mozogni</a:t>
            </a:r>
            <a:br>
              <a:rPr lang="hu-HU" sz="1500" dirty="0"/>
            </a:br>
            <a:r>
              <a:rPr lang="hu-HU" sz="1500" dirty="0"/>
              <a:t>– Ebből látszik a rendszer párhuzamosítási képessége (mennyire “együtt mozognak” a modulok)</a:t>
            </a:r>
          </a:p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r>
              <a:rPr lang="hu-HU" sz="1500" b="1" dirty="0"/>
              <a:t>Fő tapasztalatok:</a:t>
            </a:r>
            <a:endParaRPr lang="hu-HU" sz="1500" dirty="0"/>
          </a:p>
          <a:p>
            <a:pPr marL="114300" indent="0">
              <a:buNone/>
            </a:pPr>
            <a:r>
              <a:rPr lang="hu-HU" sz="1500" dirty="0"/>
              <a:t>– A transzformációk száma erősen függ a kiinduló forma összetettségétől</a:t>
            </a:r>
          </a:p>
          <a:p>
            <a:r>
              <a:rPr lang="hu-HU" sz="1500" dirty="0"/>
              <a:t>A program gyakran képes </a:t>
            </a:r>
            <a:r>
              <a:rPr lang="hu-HU" sz="1500" b="1" dirty="0"/>
              <a:t>nagyon sok modult egyszerre</a:t>
            </a:r>
            <a:r>
              <a:rPr lang="hu-HU" sz="1500" dirty="0"/>
              <a:t> mozgatni</a:t>
            </a:r>
          </a:p>
          <a:p>
            <a:r>
              <a:rPr lang="hu-HU" sz="1500" dirty="0"/>
              <a:t>Tendencia:</a:t>
            </a:r>
          </a:p>
          <a:p>
            <a:pPr lvl="1"/>
            <a:r>
              <a:rPr lang="hu-HU" sz="1500" dirty="0"/>
              <a:t>első transzformációk → sok modul mozog</a:t>
            </a:r>
          </a:p>
          <a:p>
            <a:pPr lvl="1"/>
            <a:r>
              <a:rPr lang="hu-HU" sz="1500" dirty="0"/>
              <a:t>későbbi transzformációk → finomhangolás, 1–3 modul mozog</a:t>
            </a:r>
          </a:p>
          <a:p>
            <a:r>
              <a:rPr lang="hu-HU" sz="1500" dirty="0"/>
              <a:t>A rendszer jól </a:t>
            </a:r>
            <a:r>
              <a:rPr lang="hu-HU" sz="1500" dirty="0" err="1"/>
              <a:t>skálázódik</a:t>
            </a:r>
            <a:r>
              <a:rPr lang="hu-HU" sz="1500" dirty="0"/>
              <a:t>: több modul → nem lineárisan több transzformáció</a:t>
            </a:r>
          </a:p>
          <a:p>
            <a:r>
              <a:rPr lang="hu-HU" sz="1500" b="1" dirty="0"/>
              <a:t>Globális átlagok (15 – 30 modulszám esetén):</a:t>
            </a:r>
            <a:endParaRPr lang="hu-HU" sz="1500" dirty="0"/>
          </a:p>
          <a:p>
            <a:r>
              <a:rPr lang="hu-HU" sz="1500" dirty="0"/>
              <a:t>Átlagos transzformációszám: </a:t>
            </a:r>
            <a:r>
              <a:rPr lang="hu-HU" sz="1500" b="1" dirty="0"/>
              <a:t>~6–7</a:t>
            </a:r>
            <a:endParaRPr lang="hu-HU" sz="1500" dirty="0"/>
          </a:p>
          <a:p>
            <a:r>
              <a:rPr lang="hu-HU" sz="1500" dirty="0"/>
              <a:t>Egy transzformációban átlagosan:</a:t>
            </a:r>
          </a:p>
          <a:p>
            <a:pPr lvl="1"/>
            <a:r>
              <a:rPr lang="hu-HU" sz="1500" dirty="0"/>
              <a:t>Első fázisok: </a:t>
            </a:r>
            <a:r>
              <a:rPr lang="hu-HU" sz="1500" b="1" dirty="0"/>
              <a:t>10–14 modul</a:t>
            </a:r>
            <a:endParaRPr lang="hu-HU" sz="1500" dirty="0"/>
          </a:p>
          <a:p>
            <a:pPr lvl="1"/>
            <a:r>
              <a:rPr lang="hu-HU" sz="1500" dirty="0"/>
              <a:t>Később: </a:t>
            </a:r>
            <a:r>
              <a:rPr lang="hu-HU" sz="1500" b="1" dirty="0"/>
              <a:t>1–3 modul</a:t>
            </a:r>
            <a:endParaRPr lang="hu-HU" sz="1500" dirty="0"/>
          </a:p>
          <a:p>
            <a:r>
              <a:rPr lang="hu-HU" sz="1500" dirty="0"/>
              <a:t>Erős párhuzamosítás: az első lépésben sokszor a modulok </a:t>
            </a:r>
            <a:r>
              <a:rPr lang="hu-HU" sz="1500" b="1" dirty="0"/>
              <a:t>40–50%-a egyszerre</a:t>
            </a:r>
            <a:r>
              <a:rPr lang="hu-HU" sz="1500" dirty="0"/>
              <a:t> mozog</a:t>
            </a:r>
          </a:p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endParaRPr lang="hu-HU" sz="1500" dirty="0"/>
          </a:p>
        </p:txBody>
      </p:sp>
    </p:spTree>
    <p:extLst>
      <p:ext uri="{BB962C8B-B14F-4D97-AF65-F5344CB8AC3E}">
        <p14:creationId xmlns:p14="http://schemas.microsoft.com/office/powerpoint/2010/main" val="1275021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E9FFA85-3A1A-0B6F-BCEC-F184F3C59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E411B617-4501-0460-DF40-7C2C7683D4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AD63659F-C3CC-836E-1CF6-33C98A3D8A10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8AD2C4F2-FDAD-F2E3-241B-40B97CB13186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5584851D-4614-117D-E957-48F674B26376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365CF7CA-C4BF-7302-FBC9-9B6A0A9B286E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1BAA74E2-9C10-9AE1-8C8F-60D6F0DC27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FFFFFF"/>
              </a:buClr>
              <a:buSzPts val="4000"/>
            </a:pPr>
            <a:r>
              <a:rPr lang="hu-HU" sz="4000" dirty="0">
                <a:solidFill>
                  <a:schemeClr val="bg1"/>
                </a:solidFill>
              </a:rPr>
              <a:t>Konkrét példák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92FC655A-63A2-8101-2137-17969781BB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29675" y="1627625"/>
            <a:ext cx="2897635" cy="3061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spcBef>
                <a:spcPts val="0"/>
              </a:spcBef>
            </a:pPr>
            <a:r>
              <a:rPr lang="hu-HU" sz="1600" b="1" dirty="0"/>
              <a:t>27 modul → 6 transzformáció</a:t>
            </a:r>
            <a:endParaRPr lang="hu-HU" sz="1600" dirty="0"/>
          </a:p>
          <a:p>
            <a:r>
              <a:rPr lang="hu-HU" sz="1600" dirty="0"/>
              <a:t>10 modul</a:t>
            </a:r>
          </a:p>
          <a:p>
            <a:r>
              <a:rPr lang="hu-HU" sz="1600" dirty="0"/>
              <a:t>7 modul</a:t>
            </a:r>
          </a:p>
          <a:p>
            <a:r>
              <a:rPr lang="hu-HU" sz="1600" dirty="0"/>
              <a:t>5 modul</a:t>
            </a:r>
          </a:p>
          <a:p>
            <a:r>
              <a:rPr lang="hu-HU" sz="1600" dirty="0"/>
              <a:t>2 modul</a:t>
            </a:r>
          </a:p>
          <a:p>
            <a:r>
              <a:rPr lang="hu-HU" sz="1600" dirty="0"/>
              <a:t>3 modul</a:t>
            </a:r>
          </a:p>
          <a:p>
            <a:r>
              <a:rPr lang="hu-HU" sz="1600" dirty="0"/>
              <a:t>2 modul</a:t>
            </a:r>
          </a:p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endParaRPr lang="hu-HU" sz="1500"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6A3B0CF6-DA47-063C-5FF6-8E493E0D5FA9}"/>
              </a:ext>
            </a:extLst>
          </p:cNvPr>
          <p:cNvSpPr txBox="1"/>
          <p:nvPr/>
        </p:nvSpPr>
        <p:spPr>
          <a:xfrm>
            <a:off x="2766312" y="1671199"/>
            <a:ext cx="19293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28 modul → 2 transzformáció</a:t>
            </a:r>
            <a:endParaRPr lang="hu-HU" dirty="0"/>
          </a:p>
          <a:p>
            <a:r>
              <a:rPr lang="hu-HU" dirty="0"/>
              <a:t>7 modul</a:t>
            </a:r>
          </a:p>
          <a:p>
            <a:r>
              <a:rPr lang="hu-HU" dirty="0"/>
              <a:t>1 modul</a:t>
            </a:r>
          </a:p>
          <a:p>
            <a:endParaRPr lang="hu-HU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25F8F8FC-A4E2-681B-AE17-689446620BF8}"/>
              </a:ext>
            </a:extLst>
          </p:cNvPr>
          <p:cNvSpPr txBox="1"/>
          <p:nvPr/>
        </p:nvSpPr>
        <p:spPr>
          <a:xfrm>
            <a:off x="4948935" y="1661740"/>
            <a:ext cx="202996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15 modul → 5 transzformáció</a:t>
            </a:r>
            <a:endParaRPr lang="hu-HU" dirty="0"/>
          </a:p>
          <a:p>
            <a:r>
              <a:rPr lang="hu-HU" dirty="0"/>
              <a:t>7 modul</a:t>
            </a:r>
          </a:p>
          <a:p>
            <a:r>
              <a:rPr lang="hu-HU" dirty="0"/>
              <a:t>2 modul</a:t>
            </a:r>
          </a:p>
          <a:p>
            <a:r>
              <a:rPr lang="hu-HU" dirty="0"/>
              <a:t>1 modul</a:t>
            </a:r>
          </a:p>
          <a:p>
            <a:r>
              <a:rPr lang="hu-HU" dirty="0"/>
              <a:t>1 modul</a:t>
            </a:r>
          </a:p>
          <a:p>
            <a:r>
              <a:rPr lang="hu-HU" dirty="0"/>
              <a:t>1 modul</a:t>
            </a:r>
          </a:p>
          <a:p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526F103B-197A-231F-8F87-8124CC7BB2B2}"/>
              </a:ext>
            </a:extLst>
          </p:cNvPr>
          <p:cNvSpPr txBox="1"/>
          <p:nvPr/>
        </p:nvSpPr>
        <p:spPr>
          <a:xfrm>
            <a:off x="7455027" y="1661740"/>
            <a:ext cx="1600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30 modul → 8 transzformáció</a:t>
            </a:r>
            <a:endParaRPr lang="hu-HU" dirty="0"/>
          </a:p>
          <a:p>
            <a:r>
              <a:rPr lang="hu-HU" dirty="0"/>
              <a:t>14 modul</a:t>
            </a:r>
          </a:p>
          <a:p>
            <a:r>
              <a:rPr lang="hu-HU" dirty="0"/>
              <a:t>3 modul</a:t>
            </a:r>
          </a:p>
          <a:p>
            <a:r>
              <a:rPr lang="hu-HU" dirty="0"/>
              <a:t>3 modul</a:t>
            </a:r>
          </a:p>
          <a:p>
            <a:r>
              <a:rPr lang="hu-HU" dirty="0"/>
              <a:t>3 modul</a:t>
            </a:r>
          </a:p>
          <a:p>
            <a:r>
              <a:rPr lang="hu-HU" dirty="0"/>
              <a:t>2 modul</a:t>
            </a:r>
          </a:p>
          <a:p>
            <a:r>
              <a:rPr lang="hu-HU" dirty="0"/>
              <a:t>1 modul</a:t>
            </a:r>
          </a:p>
          <a:p>
            <a:r>
              <a:rPr lang="hu-HU" dirty="0"/>
              <a:t>1 modul</a:t>
            </a:r>
          </a:p>
          <a:p>
            <a:r>
              <a:rPr lang="hu-HU" dirty="0"/>
              <a:t>1 modul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5CBCAF0-0E0F-0A99-5006-2EC4BEF62098}"/>
              </a:ext>
            </a:extLst>
          </p:cNvPr>
          <p:cNvSpPr txBox="1"/>
          <p:nvPr/>
        </p:nvSpPr>
        <p:spPr>
          <a:xfrm>
            <a:off x="9685908" y="1662055"/>
            <a:ext cx="20299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29 modul → 11 transzformáció</a:t>
            </a:r>
            <a:endParaRPr lang="hu-HU" dirty="0"/>
          </a:p>
          <a:p>
            <a:r>
              <a:rPr lang="hu-HU" dirty="0"/>
              <a:t>13 modul</a:t>
            </a:r>
          </a:p>
          <a:p>
            <a:r>
              <a:rPr lang="hu-HU" dirty="0"/>
              <a:t>13 modul</a:t>
            </a:r>
          </a:p>
          <a:p>
            <a:r>
              <a:rPr lang="hu-HU" dirty="0"/>
              <a:t>12 modul</a:t>
            </a:r>
          </a:p>
          <a:p>
            <a:r>
              <a:rPr lang="hu-HU" dirty="0"/>
              <a:t>8 modul</a:t>
            </a:r>
          </a:p>
          <a:p>
            <a:r>
              <a:rPr lang="hu-HU" dirty="0"/>
              <a:t>4 modul</a:t>
            </a:r>
          </a:p>
          <a:p>
            <a:r>
              <a:rPr lang="hu-HU" dirty="0"/>
              <a:t>2 modul</a:t>
            </a:r>
          </a:p>
          <a:p>
            <a:r>
              <a:rPr lang="hu-HU" dirty="0"/>
              <a:t>3 modul</a:t>
            </a:r>
          </a:p>
          <a:p>
            <a:r>
              <a:rPr lang="hu-HU" dirty="0"/>
              <a:t>3 modul</a:t>
            </a:r>
          </a:p>
          <a:p>
            <a:r>
              <a:rPr lang="hu-HU" dirty="0"/>
              <a:t>5 modul</a:t>
            </a:r>
          </a:p>
          <a:p>
            <a:r>
              <a:rPr lang="hu-HU" dirty="0"/>
              <a:t>3 modul</a:t>
            </a:r>
          </a:p>
          <a:p>
            <a:r>
              <a:rPr lang="hu-HU" dirty="0"/>
              <a:t>1 modul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587120C-ACA3-F2C2-4294-49929F855774}"/>
              </a:ext>
            </a:extLst>
          </p:cNvPr>
          <p:cNvSpPr txBox="1"/>
          <p:nvPr/>
        </p:nvSpPr>
        <p:spPr>
          <a:xfrm>
            <a:off x="229675" y="4873752"/>
            <a:ext cx="116118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Megfigyelés</a:t>
            </a:r>
            <a:br>
              <a:rPr lang="hu-HU" dirty="0"/>
            </a:br>
            <a:r>
              <a:rPr lang="hu-HU" dirty="0"/>
              <a:t>→ A transzformációk első 1–2 lépésében mindig </a:t>
            </a:r>
            <a:r>
              <a:rPr lang="hu-HU" b="1" dirty="0"/>
              <a:t>nagyon sok modul mozog</a:t>
            </a:r>
            <a:r>
              <a:rPr lang="hu-HU" dirty="0"/>
              <a:t>, majd az utolsó lépésekben már csak finom igazítás történik.</a:t>
            </a:r>
            <a:br>
              <a:rPr lang="hu-HU" dirty="0"/>
            </a:br>
            <a:r>
              <a:rPr lang="hu-HU" dirty="0"/>
              <a:t>Ez jelzi, hogy a rendszer </a:t>
            </a:r>
            <a:r>
              <a:rPr lang="hu-HU" b="1" dirty="0"/>
              <a:t>hatékonyan dolgozik párhuzamos mozgással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3209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5FA837FA-F941-172C-6EF0-8A56ED5D0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DB7EAB2D-5DED-F7D5-564B-C5A319C140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6D410386-F3C9-A5AD-48BE-F3FFFC9ADF8C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D0A8AB43-B6F0-74AC-1ED3-CE126EE337E1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0C499964-CCAB-66B7-05F2-53E64E446260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2B0A0C4D-3C14-9C9E-9834-BA9F3D1EB62B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EC6E5921-8C15-7790-F644-79B4D66F87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FFFFFF"/>
              </a:buClr>
              <a:buSzPts val="4000"/>
            </a:pPr>
            <a:r>
              <a:rPr lang="hu-HU" sz="4000" dirty="0">
                <a:solidFill>
                  <a:schemeClr val="bg1"/>
                </a:solidFill>
              </a:rPr>
              <a:t>Konkrét példák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BB52A4D5-9983-6A74-0FB4-6FC24D705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891971"/>
            <a:ext cx="4410285" cy="416958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9D05E52D-14E3-32A5-A3D7-D1C7CC6A66ED}"/>
              </a:ext>
            </a:extLst>
          </p:cNvPr>
          <p:cNvSpPr txBox="1"/>
          <p:nvPr/>
        </p:nvSpPr>
        <p:spPr>
          <a:xfrm>
            <a:off x="530352" y="6319208"/>
            <a:ext cx="3968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Kezdőkonfiguráció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BEEC7E22-F28B-7D70-027E-54E68496FA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48395"/>
            <a:ext cx="5548585" cy="4254745"/>
          </a:xfrm>
          <a:prstGeom prst="rect">
            <a:avLst/>
          </a:prstGeom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C2A6F275-0726-5CE3-9756-87CF43C6C28D}"/>
              </a:ext>
            </a:extLst>
          </p:cNvPr>
          <p:cNvSpPr txBox="1"/>
          <p:nvPr/>
        </p:nvSpPr>
        <p:spPr>
          <a:xfrm>
            <a:off x="7031736" y="6319208"/>
            <a:ext cx="3639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/>
              <a:t>Exoskeleton</a:t>
            </a:r>
            <a:endParaRPr lang="hu-HU" dirty="0"/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5085EC8-422C-AFDA-9059-AF27F783400A}"/>
              </a:ext>
            </a:extLst>
          </p:cNvPr>
          <p:cNvSpPr txBox="1"/>
          <p:nvPr/>
        </p:nvSpPr>
        <p:spPr>
          <a:xfrm>
            <a:off x="5020056" y="3282696"/>
            <a:ext cx="93268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500" b="1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3641652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B7C587A-B25C-B6F5-00E8-A3B456B23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84138E48-2438-F8E4-C443-9100218D78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E6B258EA-683B-2D7B-773F-115EDBB6A1AC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1BE72AD1-27DA-0C82-4250-28EB4FD709AB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CD56D780-329E-F71C-EB19-3FD38020E423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FBB290D9-9EAC-F368-4B07-EC7109AFE6B0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127A7C46-0FCF-54A7-075A-900DBD5CB8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>
              <a:buClr>
                <a:srgbClr val="FFFFFF"/>
              </a:buClr>
              <a:buSzPts val="4000"/>
            </a:pPr>
            <a:r>
              <a:rPr lang="hu-HU" sz="4000" dirty="0">
                <a:solidFill>
                  <a:schemeClr val="bg1"/>
                </a:solidFill>
              </a:rPr>
              <a:t>generate_inputs.py: Véletlen bemeneti konfigurációk generálása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326044C9-38A9-DAE8-94D7-17A28E72D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r>
              <a:rPr lang="hu-HU" sz="1500" b="1" dirty="0"/>
              <a:t>Cél:</a:t>
            </a:r>
            <a:br>
              <a:rPr lang="hu-HU" sz="1500" dirty="0"/>
            </a:br>
            <a:r>
              <a:rPr lang="hu-HU" sz="1500" dirty="0"/>
              <a:t>100 darab véletlenszerű, </a:t>
            </a:r>
            <a:r>
              <a:rPr lang="hu-HU" sz="1500" b="1" dirty="0"/>
              <a:t>összefüggő</a:t>
            </a:r>
            <a:r>
              <a:rPr lang="hu-HU" sz="1500" dirty="0"/>
              <a:t> modul-konfiguráció előállítása egy rácson, amelyet később az algoritmus teszteléséhez használunk.</a:t>
            </a:r>
          </a:p>
          <a:p>
            <a:r>
              <a:rPr lang="hu-HU" sz="1500" b="1" dirty="0"/>
              <a:t>Hogyan működik?</a:t>
            </a:r>
          </a:p>
          <a:p>
            <a:pPr lvl="1"/>
            <a:r>
              <a:rPr lang="hu-HU" sz="1500" dirty="0"/>
              <a:t>1) Kiindulás egyetlen modulból</a:t>
            </a:r>
          </a:p>
          <a:p>
            <a:pPr lvl="1"/>
            <a:r>
              <a:rPr lang="hu-HU" sz="1500" dirty="0"/>
              <a:t>Mindig egy modullal kezd: pozíció </a:t>
            </a:r>
            <a:r>
              <a:rPr lang="hu-HU" sz="1500" b="1" dirty="0"/>
              <a:t>(4, 4)</a:t>
            </a:r>
            <a:endParaRPr lang="hu-HU" sz="1500" dirty="0"/>
          </a:p>
          <a:p>
            <a:pPr lvl="1"/>
            <a:r>
              <a:rPr lang="hu-HU" sz="1500" dirty="0"/>
              <a:t>Innen növeszti tovább a struktúrát</a:t>
            </a:r>
          </a:p>
          <a:p>
            <a:pPr lvl="1"/>
            <a:r>
              <a:rPr lang="hu-HU" sz="1500" dirty="0"/>
              <a:t>Közben figyeli a legnagyobb X és Y értékeket → ebből lesz a rács mérete</a:t>
            </a:r>
          </a:p>
          <a:p>
            <a:r>
              <a:rPr lang="hu-HU" sz="1500" b="1" dirty="0"/>
              <a:t>Modulok “növesztése” véletlenszerűen</a:t>
            </a:r>
          </a:p>
          <a:p>
            <a:pPr lvl="1"/>
            <a:r>
              <a:rPr lang="hu-HU" sz="1500" dirty="0"/>
              <a:t>A program addig ismétel, amíg el nem éri a kívánt modul-számot:</a:t>
            </a:r>
          </a:p>
          <a:p>
            <a:pPr lvl="1"/>
            <a:r>
              <a:rPr lang="hu-HU" sz="1500" dirty="0"/>
              <a:t>Véletlenszerűen kiválaszt egy már létező modult</a:t>
            </a:r>
          </a:p>
          <a:p>
            <a:pPr lvl="1"/>
            <a:r>
              <a:rPr lang="hu-HU" sz="1500" dirty="0"/>
              <a:t>Véletlen irányba “rátesz” mellé egy új modult:</a:t>
            </a:r>
            <a:br>
              <a:rPr lang="hu-HU" sz="1500" dirty="0"/>
            </a:br>
            <a:r>
              <a:rPr lang="hu-HU" sz="1500" dirty="0"/>
              <a:t> jobbra / balra / fel / le</a:t>
            </a:r>
          </a:p>
          <a:p>
            <a:r>
              <a:rPr lang="hu-HU" sz="1500" dirty="0"/>
              <a:t>Csak akkor fogadja el, ha:</a:t>
            </a:r>
          </a:p>
          <a:p>
            <a:pPr lvl="1"/>
            <a:r>
              <a:rPr lang="hu-HU" sz="1500" dirty="0"/>
              <a:t>még nincs ilyen modul</a:t>
            </a:r>
          </a:p>
          <a:p>
            <a:pPr lvl="1"/>
            <a:r>
              <a:rPr lang="hu-HU" sz="1500" dirty="0"/>
              <a:t>nem megy negatív koordinátákba</a:t>
            </a:r>
          </a:p>
          <a:p>
            <a:pPr lvl="1"/>
            <a:r>
              <a:rPr lang="hu-HU" sz="1500" dirty="0"/>
              <a:t>a struktúra összefüggő marad</a:t>
            </a:r>
          </a:p>
          <a:p>
            <a:r>
              <a:rPr lang="hu-HU" sz="1500" dirty="0"/>
              <a:t>Ez egyfajta </a:t>
            </a:r>
            <a:r>
              <a:rPr lang="hu-HU" sz="1500" b="1" dirty="0"/>
              <a:t>véletlen fa-szerű növekedést</a:t>
            </a:r>
            <a:r>
              <a:rPr lang="hu-HU" sz="1500" dirty="0"/>
              <a:t> eredményez.</a:t>
            </a:r>
          </a:p>
          <a:p>
            <a:pPr marL="228600" lvl="0" indent="-228600">
              <a:spcBef>
                <a:spcPts val="100"/>
              </a:spcBef>
              <a:spcAft>
                <a:spcPts val="100"/>
              </a:spcAft>
              <a:buSzPts val="2000"/>
            </a:pPr>
            <a:endParaRPr lang="hu-HU" sz="1500" dirty="0"/>
          </a:p>
        </p:txBody>
      </p:sp>
    </p:spTree>
    <p:extLst>
      <p:ext uri="{BB962C8B-B14F-4D97-AF65-F5344CB8AC3E}">
        <p14:creationId xmlns:p14="http://schemas.microsoft.com/office/powerpoint/2010/main" val="744416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C1371AA-2574-1DBE-BD00-5F079EB42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>
            <a:extLst>
              <a:ext uri="{FF2B5EF4-FFF2-40B4-BE49-F238E27FC236}">
                <a16:creationId xmlns:a16="http://schemas.microsoft.com/office/drawing/2014/main" id="{CE9FD40F-4A7F-57CE-3515-D4EFA7A76C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>
            <a:extLst>
              <a:ext uri="{FF2B5EF4-FFF2-40B4-BE49-F238E27FC236}">
                <a16:creationId xmlns:a16="http://schemas.microsoft.com/office/drawing/2014/main" id="{563ABDDA-5EDC-EAE5-874B-68BC602ACF17}"/>
              </a:ext>
            </a:extLst>
          </p:cNvPr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>
            <a:extLst>
              <a:ext uri="{FF2B5EF4-FFF2-40B4-BE49-F238E27FC236}">
                <a16:creationId xmlns:a16="http://schemas.microsoft.com/office/drawing/2014/main" id="{44FFD45B-EFF7-EEB8-5D5E-E0B89A99C9FF}"/>
              </a:ext>
            </a:extLst>
          </p:cNvPr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>
            <a:extLst>
              <a:ext uri="{FF2B5EF4-FFF2-40B4-BE49-F238E27FC236}">
                <a16:creationId xmlns:a16="http://schemas.microsoft.com/office/drawing/2014/main" id="{57A84D28-64E8-66F6-C9DB-CA38D6926AD0}"/>
              </a:ext>
            </a:extLst>
          </p:cNvPr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>
            <a:extLst>
              <a:ext uri="{FF2B5EF4-FFF2-40B4-BE49-F238E27FC236}">
                <a16:creationId xmlns:a16="http://schemas.microsoft.com/office/drawing/2014/main" id="{FB0C5E23-7A84-D35F-D54A-E34F0371F510}"/>
              </a:ext>
            </a:extLst>
          </p:cNvPr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>
            <a:extLst>
              <a:ext uri="{FF2B5EF4-FFF2-40B4-BE49-F238E27FC236}">
                <a16:creationId xmlns:a16="http://schemas.microsoft.com/office/drawing/2014/main" id="{3C0510BB-BDB4-4682-8D15-DEA60E464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>
              <a:buClr>
                <a:srgbClr val="FFFFFF"/>
              </a:buClr>
              <a:buSzPts val="4000"/>
            </a:pPr>
            <a:r>
              <a:rPr lang="hu-HU" sz="4000" dirty="0">
                <a:solidFill>
                  <a:schemeClr val="bg1"/>
                </a:solidFill>
              </a:rPr>
              <a:t>bulk_run.py: Tömeges tesztelés és teljesítménymérés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C8689240-E32A-B21B-FE00-898510C13A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hu-HU" sz="1500" b="1" dirty="0"/>
              <a:t>Cél: </a:t>
            </a:r>
            <a:r>
              <a:rPr lang="hu-HU" sz="1500" dirty="0"/>
              <a:t>A program automatikusan </a:t>
            </a:r>
            <a:r>
              <a:rPr lang="hu-HU" sz="1500" b="1" dirty="0"/>
              <a:t>százszámra futtatja</a:t>
            </a:r>
            <a:r>
              <a:rPr lang="hu-HU" sz="1500" dirty="0"/>
              <a:t> a modul-átalakító algoritmust különböző méretű struktúrákon, hogy mérje:</a:t>
            </a:r>
          </a:p>
          <a:p>
            <a:pPr lvl="1"/>
            <a:r>
              <a:rPr lang="hu-HU" sz="1500" dirty="0"/>
              <a:t>milyen gyakran sikerül az átalakítás</a:t>
            </a:r>
          </a:p>
          <a:p>
            <a:pPr lvl="1"/>
            <a:r>
              <a:rPr lang="hu-HU" sz="1500" dirty="0"/>
              <a:t>hány lépés (művelet) kell hozzá</a:t>
            </a:r>
          </a:p>
          <a:p>
            <a:r>
              <a:rPr lang="hu-HU" sz="1500" b="1" dirty="0"/>
              <a:t>Hogyan működik?</a:t>
            </a:r>
          </a:p>
          <a:p>
            <a:pPr lvl="1"/>
            <a:r>
              <a:rPr lang="hu-HU" sz="1500" b="1" dirty="0"/>
              <a:t>Beolvas egy kiinduló alakzatot</a:t>
            </a:r>
          </a:p>
          <a:p>
            <a:pPr lvl="2"/>
            <a:r>
              <a:rPr lang="hu-HU" sz="1500" dirty="0"/>
              <a:t>Fájlból olvas be rácsokat (0 = üres, 1 = modul)</a:t>
            </a:r>
          </a:p>
          <a:p>
            <a:pPr lvl="2"/>
            <a:r>
              <a:rPr lang="hu-HU" sz="1500" dirty="0"/>
              <a:t>Ezekből állítja elő a tesztelendő kiindulási és célalakzatokat</a:t>
            </a:r>
          </a:p>
          <a:p>
            <a:pPr lvl="1"/>
            <a:r>
              <a:rPr lang="hu-HU" sz="1500" b="1" dirty="0"/>
              <a:t>Végigmegy a modul-számokon: 20 → 350 majd </a:t>
            </a:r>
            <a:r>
              <a:rPr lang="hu-HU" sz="1500" b="1"/>
              <a:t>350 → 500</a:t>
            </a:r>
            <a:endParaRPr lang="hu-HU" sz="1500" b="1" dirty="0"/>
          </a:p>
          <a:p>
            <a:pPr lvl="2"/>
            <a:r>
              <a:rPr lang="hu-HU" sz="1500" dirty="0"/>
              <a:t>Minden modul-számnál:</a:t>
            </a:r>
          </a:p>
          <a:p>
            <a:pPr lvl="2"/>
            <a:r>
              <a:rPr lang="hu-HU" sz="1500" dirty="0"/>
              <a:t>Legenerál 100 véletlen konfigurációt</a:t>
            </a:r>
          </a:p>
          <a:p>
            <a:pPr lvl="2"/>
            <a:r>
              <a:rPr lang="hu-HU" sz="1500" dirty="0"/>
              <a:t>Ezekből véletlenszerűen kiválaszt kettőt (start + cél)</a:t>
            </a:r>
          </a:p>
          <a:p>
            <a:pPr lvl="2"/>
            <a:r>
              <a:rPr lang="hu-HU" sz="1500" dirty="0"/>
              <a:t>10 futtatást végez modul-számonként</a:t>
            </a:r>
          </a:p>
          <a:p>
            <a:pPr lvl="1"/>
            <a:r>
              <a:rPr lang="hu-HU" sz="1500" b="1" dirty="0"/>
              <a:t>Futtatja az algoritmust “láthatatlan” módban</a:t>
            </a:r>
          </a:p>
          <a:p>
            <a:pPr lvl="2"/>
            <a:r>
              <a:rPr lang="hu-HU" sz="1500" dirty="0"/>
              <a:t>Elindítja a teljes átalakítási folyamatot (fázis 1–4)</a:t>
            </a:r>
          </a:p>
          <a:p>
            <a:pPr lvl="2"/>
            <a:r>
              <a:rPr lang="hu-HU" sz="1500" dirty="0"/>
              <a:t>Megszámolja, hány lépés kellett a teljes átalakuláshoz</a:t>
            </a:r>
          </a:p>
          <a:p>
            <a:pPr lvl="2"/>
            <a:r>
              <a:rPr lang="hu-HU" sz="1500" dirty="0"/>
              <a:t>Kezeli a hibákat is (pl. ha meghiúsul egy átalakítás)</a:t>
            </a:r>
          </a:p>
          <a:p>
            <a:endParaRPr lang="hu-HU" sz="1500" dirty="0"/>
          </a:p>
        </p:txBody>
      </p:sp>
    </p:spTree>
    <p:extLst>
      <p:ext uri="{BB962C8B-B14F-4D97-AF65-F5344CB8AC3E}">
        <p14:creationId xmlns:p14="http://schemas.microsoft.com/office/powerpoint/2010/main" val="2545045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0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</a:t>
            </a:r>
            <a:endParaRPr/>
          </a:p>
        </p:txBody>
      </p:sp>
      <p:pic>
        <p:nvPicPr>
          <p:cNvPr id="169" name="Google Shape;169;p20" title="Figure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8500" y="1823050"/>
            <a:ext cx="6096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0"/>
          <p:cNvSpPr txBox="1">
            <a:spLocks noGrp="1"/>
          </p:cNvSpPr>
          <p:nvPr>
            <p:ph type="body" idx="1"/>
          </p:nvPr>
        </p:nvSpPr>
        <p:spPr>
          <a:xfrm>
            <a:off x="6423625" y="2019600"/>
            <a:ext cx="4979700" cy="4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47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lang="hu-HU" sz="2300"/>
              <a:t>Összesen ~7500 sikeres futtatás</a:t>
            </a:r>
            <a:endParaRPr sz="2300"/>
          </a:p>
          <a:p>
            <a:pPr marL="228600" lvl="0" indent="-247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~62%-os sikerráta</a:t>
            </a:r>
            <a:endParaRPr sz="2300"/>
          </a:p>
          <a:p>
            <a:pPr marL="228600" lvl="0" indent="-247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A worst-case optimal algoritmus O(P)</a:t>
            </a:r>
            <a:endParaRPr sz="2300"/>
          </a:p>
          <a:p>
            <a:pPr marL="228600" lvl="0" indent="-247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Ez a plot lineáris?</a:t>
            </a:r>
            <a:endParaRPr sz="2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1249</Words>
  <Application>Microsoft Office PowerPoint</Application>
  <PresentationFormat>Szélesvásznú</PresentationFormat>
  <Paragraphs>183</Paragraphs>
  <Slides>16</Slides>
  <Notes>16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19" baseType="lpstr">
      <vt:lpstr>Play</vt:lpstr>
      <vt:lpstr>Arial</vt:lpstr>
      <vt:lpstr>Office-téma</vt:lpstr>
      <vt:lpstr>Sliding Squares in Parallel</vt:lpstr>
      <vt:lpstr>Az alapprobléma</vt:lpstr>
      <vt:lpstr>Worst-case optimal algorithm</vt:lpstr>
      <vt:lpstr>I. fázis: Exoskeleton építése</vt:lpstr>
      <vt:lpstr>II. fázis: Scaffolding</vt:lpstr>
      <vt:lpstr>III. fázis: Sweeping into a histogram </vt:lpstr>
      <vt:lpstr>IV. fázis: Hisztogram-átalakítás</vt:lpstr>
      <vt:lpstr>Szimulációs program</vt:lpstr>
      <vt:lpstr>Program felépítése</vt:lpstr>
      <vt:lpstr>Hogyan működik a párhuzamos mozgás?</vt:lpstr>
      <vt:lpstr>Exoskeleton építés: mérési eredmények (összefoglaló)</vt:lpstr>
      <vt:lpstr>Konkrét példák</vt:lpstr>
      <vt:lpstr>Konkrét példák</vt:lpstr>
      <vt:lpstr>generate_inputs.py: Véletlen bemeneti konfigurációk generálása</vt:lpstr>
      <vt:lpstr>bulk_run.py: Tömeges tesztelés és teljesítménymérés</vt:lpstr>
      <vt:lpstr>Eredmények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Lamelo2@sulid.hu</cp:lastModifiedBy>
  <cp:revision>31</cp:revision>
  <dcterms:modified xsi:type="dcterms:W3CDTF">2025-12-04T09:33:17Z</dcterms:modified>
</cp:coreProperties>
</file>