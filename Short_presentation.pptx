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2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8077FA-CE40-D1C9-34F3-0938344351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18C0F21-66EA-BE20-1271-2CB6BBE2CB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17121FB-18FA-193D-53AD-777E67E9A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0939A34-058F-1C21-7CC6-150159302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E3F8852-8592-F9B4-7D38-FA6AAA9B1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29747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2BBED1F-6FA7-9862-E97A-4B5CDFBC0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1C70B8-F07A-3DA7-C3C2-33E1C7F40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C1D6033-2323-AE58-2B72-1D7BF186B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536B1E-89D0-1ED4-F1B0-3399E61A6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127E5F6-0B0F-D911-A7A5-CBD8C96D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7748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5801F4-2176-DFF3-CDF4-D25177641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C328654-9722-BBC4-7C55-817B17739D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ECCD23D-7761-7F2D-9F48-750F47B81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6CDE977-2C73-8D6A-CFD1-3F20ABF4C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EBF0250-9BE8-2086-3F7B-A50305CB8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7678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0B5057-D245-6A34-646A-98FD2F112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FC5B377-0A21-A449-5DCB-3BBF68CE71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0F3605C-D123-A195-6859-F1831079D3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24B08BE-00FC-D342-BBC5-99B81A141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D6D26C2-78DD-0BBC-FB5C-476E2296C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05F7D88-1B25-20D2-E4DE-BB0279668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08811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454B31-AA0D-51DF-B87A-C6F7C6B37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6491C36-91A8-BF33-5C56-227A9493A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CB83088-4C29-1E72-CE3B-5E62C7C185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37B5704-9662-089F-2006-CE9F67B3E1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86A9044-09AB-0068-676F-FB818FEE5B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B803FAF-F808-614C-24D0-6A74FC530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B666807F-6A29-F162-AC2C-BB33F1D1E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83AD9BB3-BF4D-D102-8F72-2C0E57ED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86526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2384B0-37D7-92AE-A092-0FC6DEB8D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BF75EFD-42BC-9646-FC16-08CA8410A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E9F3416-89CD-0840-69B0-D6C851524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A5728B4-4828-8350-BE8C-1C555FD43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729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C5BB0347-9E65-91DE-ECC5-921406D7D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291574C-9585-9FFC-9414-B9E3FF950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308F2282-8B71-B677-5D5B-0B01C3D33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04626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E7EBDBB-D83C-8E4B-D4FA-0213E5CE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9A8A543-C207-0385-FDB9-CAB3495C7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E7D9322-8FB7-7736-1A78-B0D74434D6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B13AA61-CB83-EB5C-D46C-40E1AFC3A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0DD953A-4C99-4423-C051-7286AE193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4A4CA2E-AB41-13D9-7812-3CD7F6AD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9018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B7A2D7-B9BB-70F3-93F2-7B1C514F0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EB7F7567-6C7F-3F10-8085-73F31E5146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F693181-94CC-3A52-C43A-0ED102C58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B27CB36-F94A-C8DA-645A-636680B7A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1524B54-AD70-FF2C-1DC9-EA3B8BF7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17F6A6D-D06D-9711-193A-3DD042692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2403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691917-B8E5-C307-56BC-BA5DC73AB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4ED0380-9AED-6BCB-4AC4-990C42FD20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768D50A-7794-8BCE-E842-B2FE642C1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CB36A43-5877-D45B-E0C2-C831D04B7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1C8C545-7812-1EB5-677A-9BE44448D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7338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571DCE0-80A3-FF0E-A85E-C43ACE9CF0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052778D-5556-45BD-066E-3FBED3AE1C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33CC00B-9B35-4837-321A-0CFB15C17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99854FA-B606-C34C-C59C-0D6B9F652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653DE1E-B3AE-97E2-4D6B-52A4DC6CC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8617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B143D40-16DB-9F99-6676-952798755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5FC1783-71E1-19CF-DF56-C92C87B98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630FE69-9227-05FD-402B-4344DCACCE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728D57-A693-4477-941E-1DA1B888FB9F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A7E67D-1270-F498-CD33-C1CCF3A501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DBF13B3-18AB-BE2C-B990-B0D2824D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563BD8-181D-4CC8-8E91-04F9A9507C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15932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07EB7B4-9368-3221-6A74-88DCC70E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hu-HU" sz="4800">
                <a:solidFill>
                  <a:srgbClr val="FFFFFF"/>
                </a:solidFill>
              </a:rPr>
              <a:t>Sliding Squares in Parallel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70A5A71-30C1-D701-6172-59F5A9A970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pPr lvl="0">
              <a:spcBef>
                <a:spcPts val="0"/>
              </a:spcBef>
              <a:buSzPts val="1600"/>
            </a:pPr>
            <a:r>
              <a:rPr lang="hu-HU" sz="2200" dirty="0">
                <a:solidFill>
                  <a:srgbClr val="FFFFFF"/>
                </a:solidFill>
              </a:rPr>
              <a:t>KÉSZÍTETTE: </a:t>
            </a:r>
          </a:p>
          <a:p>
            <a:pPr lvl="0">
              <a:buSzPts val="1600"/>
            </a:pPr>
            <a:r>
              <a:rPr lang="hu-HU" sz="2200" dirty="0">
                <a:solidFill>
                  <a:srgbClr val="FFFFFF"/>
                </a:solidFill>
              </a:rPr>
              <a:t>GERGELYI LAURA BOGLÁRKA, SZÁSZ KRISTÓF RÓBERT, KISS MARCELL</a:t>
            </a:r>
          </a:p>
        </p:txBody>
      </p:sp>
    </p:spTree>
    <p:extLst>
      <p:ext uri="{BB962C8B-B14F-4D97-AF65-F5344CB8AC3E}">
        <p14:creationId xmlns:p14="http://schemas.microsoft.com/office/powerpoint/2010/main" val="1522953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EA8FE93-B215-3C62-D2EE-3757C092C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FFFFFF"/>
                </a:solidFill>
              </a:rPr>
              <a:t>Az alapprobléma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E4C4135-2B21-C66A-A56D-B3AEF03E41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599" y="2318197"/>
            <a:ext cx="9724031" cy="36833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Bemenet: kezdő alak C1​, cél alak C2​.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Feladat: legális párhuzamos mozdulatok sorozatával </a:t>
            </a:r>
            <a:r>
              <a:rPr lang="hu-HU" altLang="hu-HU" sz="2000" dirty="0">
                <a:latin typeface="Arial" panose="020B0604020202020204" pitchFamily="34" charset="0"/>
              </a:rPr>
              <a:t>C1 -&gt; C2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​.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Korlátok: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Összefüggőség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megőrzése (mindig legyen kapcsolat).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Ütközésmentesség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(a mozdulatok ne fedjék egymást).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Kimenet: átalakulási ütemezés (minden lépésben több modul is mozoghat).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Cél: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minimalizálni a </a:t>
            </a:r>
            <a:r>
              <a:rPr kumimoji="0" lang="hu-HU" altLang="hu-HU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makespant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(párhuzamos lépések számát).</a:t>
            </a:r>
          </a:p>
        </p:txBody>
      </p:sp>
    </p:spTree>
    <p:extLst>
      <p:ext uri="{BB962C8B-B14F-4D97-AF65-F5344CB8AC3E}">
        <p14:creationId xmlns:p14="http://schemas.microsoft.com/office/powerpoint/2010/main" val="2727587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CD51FBD-BFAF-979F-1BA3-7A2C52544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FFFFFF"/>
                </a:solidFill>
              </a:rPr>
              <a:t>Worst-case optimal algorithm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0C1DC9-A2E0-3EBC-6F0C-6CFE089F4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hu-HU" sz="2000" b="1" dirty="0"/>
              <a:t>A 4 fázis:</a:t>
            </a:r>
            <a:endParaRPr lang="hu-HU" sz="2000" dirty="0"/>
          </a:p>
          <a:p>
            <a:r>
              <a:rPr lang="hu-HU" sz="2000" b="1" dirty="0" err="1"/>
              <a:t>Exoskeleton</a:t>
            </a:r>
            <a:r>
              <a:rPr lang="hu-HU" sz="2000" b="1" dirty="0"/>
              <a:t> építése (</a:t>
            </a:r>
            <a:r>
              <a:rPr lang="hu-HU" sz="2000" b="1" dirty="0" err="1"/>
              <a:t>Gathering</a:t>
            </a:r>
            <a:r>
              <a:rPr lang="hu-HU" sz="2000" b="1" dirty="0"/>
              <a:t> </a:t>
            </a:r>
            <a:r>
              <a:rPr lang="hu-HU" sz="2000" b="1" dirty="0" err="1"/>
              <a:t>Squares</a:t>
            </a:r>
            <a:r>
              <a:rPr lang="hu-HU" sz="2000" b="1" dirty="0"/>
              <a:t>)</a:t>
            </a:r>
            <a:endParaRPr lang="hu-HU" sz="2000" dirty="0"/>
          </a:p>
          <a:p>
            <a:r>
              <a:rPr lang="hu-HU" sz="2000" b="1" dirty="0" err="1"/>
              <a:t>Scaffolding</a:t>
            </a:r>
            <a:r>
              <a:rPr lang="hu-HU" sz="2000" b="1" dirty="0"/>
              <a:t> (állványzat) kialakítása</a:t>
            </a:r>
            <a:endParaRPr lang="hu-HU" sz="2000" dirty="0"/>
          </a:p>
          <a:p>
            <a:r>
              <a:rPr lang="hu-HU" sz="2000" b="1" dirty="0"/>
              <a:t>Söprés (</a:t>
            </a:r>
            <a:r>
              <a:rPr lang="hu-HU" sz="2000" b="1" dirty="0" err="1"/>
              <a:t>Sweeping</a:t>
            </a:r>
            <a:r>
              <a:rPr lang="hu-HU" sz="2000" b="1" dirty="0"/>
              <a:t>) – hisztogrammá alakítás</a:t>
            </a:r>
            <a:endParaRPr lang="hu-HU" sz="2000" dirty="0"/>
          </a:p>
          <a:p>
            <a:r>
              <a:rPr lang="hu-HU" sz="2000" b="1" dirty="0"/>
              <a:t>Hisztogram-átalakítás (</a:t>
            </a:r>
            <a:r>
              <a:rPr lang="hu-HU" sz="2000" b="1" dirty="0" err="1"/>
              <a:t>Histogram</a:t>
            </a:r>
            <a:r>
              <a:rPr lang="hu-HU" sz="2000" b="1" dirty="0"/>
              <a:t> </a:t>
            </a:r>
            <a:r>
              <a:rPr lang="hu-HU" sz="2000" b="1" dirty="0" err="1"/>
              <a:t>Transformation</a:t>
            </a:r>
            <a:r>
              <a:rPr lang="hu-HU" sz="2000" b="1" dirty="0"/>
              <a:t>)</a:t>
            </a:r>
            <a:endParaRPr lang="hu-HU" sz="2000" dirty="0"/>
          </a:p>
          <a:p>
            <a:endParaRPr lang="hu-HU" sz="2000" dirty="0"/>
          </a:p>
        </p:txBody>
      </p:sp>
    </p:spTree>
    <p:extLst>
      <p:ext uri="{BB962C8B-B14F-4D97-AF65-F5344CB8AC3E}">
        <p14:creationId xmlns:p14="http://schemas.microsoft.com/office/powerpoint/2010/main" val="213872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183D48E-3DB1-067E-987C-EA6D670CF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FFFFFF"/>
                </a:solidFill>
              </a:rPr>
              <a:t>I. fázis: Exoskeleton építése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2F89EB2-CDCB-5E86-9832-BFDBCFF29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hu-HU" sz="1900" b="1" dirty="0"/>
              <a:t>Cél: </a:t>
            </a:r>
            <a:r>
              <a:rPr lang="hu-HU" sz="1900" dirty="0"/>
              <a:t>Egy stabil, manipulálható </a:t>
            </a:r>
            <a:r>
              <a:rPr lang="hu-HU" sz="1900" b="1" dirty="0" err="1"/>
              <a:t>exoskeleton</a:t>
            </a:r>
            <a:r>
              <a:rPr lang="hu-HU" sz="1900" dirty="0"/>
              <a:t> kialakítása a kezdeti alakból.</a:t>
            </a:r>
          </a:p>
          <a:p>
            <a:r>
              <a:rPr lang="hu-HU" sz="1900" b="1" dirty="0"/>
              <a:t>Lépések:</a:t>
            </a:r>
            <a:endParaRPr lang="hu-HU" sz="1900" dirty="0"/>
          </a:p>
          <a:p>
            <a:r>
              <a:rPr lang="hu-HU" sz="1900" dirty="0"/>
              <a:t>Kiszámítjuk a </a:t>
            </a:r>
            <a:r>
              <a:rPr lang="hu-HU" sz="1900" b="1" dirty="0"/>
              <a:t>vázat (</a:t>
            </a:r>
            <a:r>
              <a:rPr lang="hu-HU" sz="1900" b="1" dirty="0" err="1"/>
              <a:t>skeleton</a:t>
            </a:r>
            <a:r>
              <a:rPr lang="hu-HU" sz="1900" b="1" dirty="0"/>
              <a:t>)</a:t>
            </a:r>
            <a:r>
              <a:rPr lang="hu-HU" sz="1900" dirty="0"/>
              <a:t> – fa-szerű mag.</a:t>
            </a:r>
          </a:p>
          <a:p>
            <a:r>
              <a:rPr lang="hu-HU" sz="1900" dirty="0"/>
              <a:t>Kiválasztunk egy nagyobb </a:t>
            </a:r>
            <a:r>
              <a:rPr lang="hu-HU" sz="1900" b="1" dirty="0"/>
              <a:t>részfát</a:t>
            </a:r>
            <a:r>
              <a:rPr lang="hu-HU" sz="1900" dirty="0"/>
              <a:t> .</a:t>
            </a:r>
          </a:p>
          <a:p>
            <a:r>
              <a:rPr lang="hu-HU" sz="1900" dirty="0"/>
              <a:t>Körbevesszük egy </a:t>
            </a:r>
            <a:r>
              <a:rPr lang="hu-HU" sz="1900" b="1" dirty="0"/>
              <a:t>héjjal (</a:t>
            </a:r>
            <a:r>
              <a:rPr lang="hu-HU" sz="1900" b="1" dirty="0" err="1"/>
              <a:t>shell</a:t>
            </a:r>
            <a:r>
              <a:rPr lang="hu-HU" sz="1900" b="1" dirty="0"/>
              <a:t>)</a:t>
            </a:r>
            <a:r>
              <a:rPr lang="hu-HU" sz="1900" dirty="0"/>
              <a:t>, így lesz </a:t>
            </a:r>
            <a:r>
              <a:rPr lang="hu-HU" sz="1900" b="1" dirty="0" err="1"/>
              <a:t>core</a:t>
            </a:r>
            <a:r>
              <a:rPr lang="hu-HU" sz="1900" b="1" dirty="0"/>
              <a:t> + </a:t>
            </a:r>
            <a:r>
              <a:rPr lang="hu-HU" sz="1900" b="1" dirty="0" err="1"/>
              <a:t>shell</a:t>
            </a:r>
            <a:r>
              <a:rPr lang="hu-HU" sz="1900" dirty="0"/>
              <a:t> szerkezet.</a:t>
            </a:r>
          </a:p>
          <a:p>
            <a:r>
              <a:rPr lang="hu-HU" sz="1900" dirty="0"/>
              <a:t>A belső részben legalább egy cella üres marad, hogy a modulok mozoghassanak.</a:t>
            </a:r>
          </a:p>
          <a:p>
            <a:r>
              <a:rPr lang="hu-HU" sz="1900" dirty="0"/>
              <a:t>A mozgatásokhoz </a:t>
            </a:r>
            <a:r>
              <a:rPr lang="hu-HU" sz="1900" b="1" dirty="0" err="1"/>
              <a:t>Inchworm-Push</a:t>
            </a:r>
            <a:r>
              <a:rPr lang="hu-HU" sz="1900" dirty="0"/>
              <a:t> és </a:t>
            </a:r>
            <a:r>
              <a:rPr lang="hu-HU" sz="1900" b="1" dirty="0" err="1"/>
              <a:t>Inchworm-Pull</a:t>
            </a:r>
            <a:r>
              <a:rPr lang="hu-HU" sz="1900" dirty="0"/>
              <a:t> lokális műveleteket használunk.</a:t>
            </a:r>
          </a:p>
          <a:p>
            <a:r>
              <a:rPr lang="hu-HU" sz="1900" b="1" dirty="0"/>
              <a:t>Eredmény:</a:t>
            </a:r>
            <a:br>
              <a:rPr lang="hu-HU" sz="1900" dirty="0"/>
            </a:br>
            <a:r>
              <a:rPr lang="hu-HU" sz="1900" dirty="0"/>
              <a:t>Nagy, összefüggő </a:t>
            </a:r>
            <a:r>
              <a:rPr lang="hu-HU" sz="1900" dirty="0" err="1"/>
              <a:t>exoskeleton</a:t>
            </a:r>
            <a:r>
              <a:rPr lang="hu-HU" sz="1900" dirty="0"/>
              <a:t>.</a:t>
            </a:r>
          </a:p>
          <a:p>
            <a:endParaRPr lang="hu-HU" sz="1900" dirty="0"/>
          </a:p>
        </p:txBody>
      </p:sp>
    </p:spTree>
    <p:extLst>
      <p:ext uri="{BB962C8B-B14F-4D97-AF65-F5344CB8AC3E}">
        <p14:creationId xmlns:p14="http://schemas.microsoft.com/office/powerpoint/2010/main" val="3763554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CD2A9EA-BAB9-0C8B-3386-B02FE8157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FFFFFF"/>
                </a:solidFill>
              </a:rPr>
              <a:t>II. fázis: Scaffolding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C18584-B6A8-F82D-B57A-E23E4FA02A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hu-HU" sz="2000" b="1" dirty="0"/>
              <a:t>Cél:</a:t>
            </a:r>
            <a:br>
              <a:rPr lang="hu-HU" sz="2000" dirty="0"/>
            </a:br>
            <a:r>
              <a:rPr lang="hu-HU" sz="2000" dirty="0"/>
              <a:t>Az </a:t>
            </a:r>
            <a:r>
              <a:rPr lang="hu-HU" sz="2000" dirty="0" err="1"/>
              <a:t>exoskeletonból</a:t>
            </a:r>
            <a:r>
              <a:rPr lang="hu-HU" sz="2000" dirty="0"/>
              <a:t> </a:t>
            </a:r>
            <a:r>
              <a:rPr lang="hu-HU" sz="2000" b="1" dirty="0"/>
              <a:t>T-alakú állvány</a:t>
            </a:r>
            <a:r>
              <a:rPr lang="hu-HU" sz="2000" dirty="0"/>
              <a:t> létrehozása a </a:t>
            </a:r>
            <a:r>
              <a:rPr lang="hu-HU" sz="2000" dirty="0" err="1"/>
              <a:t>bounding</a:t>
            </a:r>
            <a:r>
              <a:rPr lang="hu-HU" sz="2000" dirty="0"/>
              <a:t> </a:t>
            </a:r>
            <a:r>
              <a:rPr lang="hu-HU" sz="2000" dirty="0" err="1"/>
              <a:t>boxon</a:t>
            </a:r>
            <a:r>
              <a:rPr lang="hu-HU" sz="2000" dirty="0"/>
              <a:t> belül.</a:t>
            </a:r>
          </a:p>
          <a:p>
            <a:r>
              <a:rPr lang="hu-HU" sz="2000" b="1" dirty="0"/>
              <a:t>Fő lépések:</a:t>
            </a:r>
            <a:endParaRPr lang="hu-HU" sz="2000" dirty="0"/>
          </a:p>
          <a:p>
            <a:r>
              <a:rPr lang="hu-HU" sz="2000" dirty="0"/>
              <a:t>Az </a:t>
            </a:r>
            <a:r>
              <a:rPr lang="hu-HU" sz="2000" dirty="0" err="1"/>
              <a:t>exoskeletont</a:t>
            </a:r>
            <a:r>
              <a:rPr lang="hu-HU" sz="2000" dirty="0"/>
              <a:t> </a:t>
            </a:r>
            <a:r>
              <a:rPr lang="hu-HU" sz="2000" b="1" dirty="0"/>
              <a:t>tömörítjük</a:t>
            </a:r>
            <a:r>
              <a:rPr lang="hu-HU" sz="2000" dirty="0"/>
              <a:t>, hogy a mag szilárd tömb legyen.</a:t>
            </a:r>
          </a:p>
          <a:p>
            <a:r>
              <a:rPr lang="hu-HU" sz="2000" dirty="0"/>
              <a:t>A jobb szélső pontból </a:t>
            </a:r>
            <a:r>
              <a:rPr lang="hu-HU" sz="2000" b="1" dirty="0"/>
              <a:t>vízszintes kar</a:t>
            </a:r>
            <a:r>
              <a:rPr lang="hu-HU" sz="2000" dirty="0"/>
              <a:t> nő ki (3×3 blokk).</a:t>
            </a:r>
          </a:p>
          <a:p>
            <a:r>
              <a:rPr lang="hu-HU" sz="2000" dirty="0"/>
              <a:t>Ezt </a:t>
            </a:r>
            <a:r>
              <a:rPr lang="hu-HU" sz="2000" b="1" dirty="0"/>
              <a:t>függőlegesen</a:t>
            </a:r>
            <a:r>
              <a:rPr lang="hu-HU" sz="2000" dirty="0"/>
              <a:t> kiterjesztjük felfelé és lefelé.</a:t>
            </a:r>
          </a:p>
          <a:p>
            <a:r>
              <a:rPr lang="hu-HU" sz="2000" dirty="0"/>
              <a:t>➡ Ezzel egy </a:t>
            </a:r>
            <a:r>
              <a:rPr lang="hu-HU" sz="2000" b="1" dirty="0"/>
              <a:t>függőleges söprővonal</a:t>
            </a:r>
            <a:r>
              <a:rPr lang="hu-HU" sz="2000" dirty="0"/>
              <a:t> jön létre,</a:t>
            </a:r>
            <a:br>
              <a:rPr lang="hu-HU" sz="2000" dirty="0"/>
            </a:br>
            <a:r>
              <a:rPr lang="hu-HU" sz="2000" dirty="0"/>
              <a:t>amely a 3. fázis során vezeti a mozgást.</a:t>
            </a:r>
          </a:p>
        </p:txBody>
      </p:sp>
    </p:spTree>
    <p:extLst>
      <p:ext uri="{BB962C8B-B14F-4D97-AF65-F5344CB8AC3E}">
        <p14:creationId xmlns:p14="http://schemas.microsoft.com/office/powerpoint/2010/main" val="4216878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B360711-0E31-D020-EAF3-95346564A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 dirty="0">
                <a:solidFill>
                  <a:schemeClr val="bg1"/>
                </a:solidFill>
              </a:rPr>
              <a:t>III. fázis: </a:t>
            </a:r>
            <a:r>
              <a:rPr lang="hu-HU" sz="4000" dirty="0" err="1">
                <a:solidFill>
                  <a:schemeClr val="bg1"/>
                </a:solidFill>
              </a:rPr>
              <a:t>Sweeping</a:t>
            </a:r>
            <a:r>
              <a:rPr lang="hu-HU" sz="4000" dirty="0">
                <a:solidFill>
                  <a:schemeClr val="bg1"/>
                </a:solidFill>
              </a:rPr>
              <a:t> </a:t>
            </a:r>
            <a:r>
              <a:rPr lang="hu-HU" sz="4000" dirty="0" err="1">
                <a:solidFill>
                  <a:schemeClr val="bg1"/>
                </a:solidFill>
              </a:rPr>
              <a:t>into</a:t>
            </a:r>
            <a:r>
              <a:rPr lang="hu-HU" sz="4000" dirty="0">
                <a:solidFill>
                  <a:schemeClr val="bg1"/>
                </a:solidFill>
              </a:rPr>
              <a:t> a </a:t>
            </a:r>
            <a:r>
              <a:rPr lang="hu-HU" sz="4000" dirty="0" err="1">
                <a:solidFill>
                  <a:schemeClr val="bg1"/>
                </a:solidFill>
              </a:rPr>
              <a:t>histogram</a:t>
            </a:r>
            <a:r>
              <a:rPr lang="hu-HU" sz="40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FEAB8E6-187C-2D18-951E-133861E2E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885279"/>
            <a:ext cx="9724031" cy="4374844"/>
          </a:xfrm>
        </p:spPr>
        <p:txBody>
          <a:bodyPr anchor="ctr">
            <a:normAutofit/>
          </a:bodyPr>
          <a:lstStyle/>
          <a:p>
            <a:r>
              <a:rPr lang="hu-HU" sz="1700" b="1" dirty="0"/>
              <a:t>Cél:</a:t>
            </a:r>
            <a:br>
              <a:rPr lang="hu-HU" sz="1700" dirty="0"/>
            </a:br>
            <a:r>
              <a:rPr lang="hu-HU" sz="1700" dirty="0"/>
              <a:t>A teljes konfigurációt „lesöpörni” hisztogram-alakra.</a:t>
            </a:r>
          </a:p>
          <a:p>
            <a:r>
              <a:rPr lang="hu-HU" sz="1700" b="1" dirty="0"/>
              <a:t>Fő ötlet:</a:t>
            </a:r>
            <a:endParaRPr lang="hu-HU" sz="1700" dirty="0"/>
          </a:p>
          <a:p>
            <a:r>
              <a:rPr lang="hu-HU" sz="1700" dirty="0"/>
              <a:t>Bevezetjük a </a:t>
            </a:r>
            <a:r>
              <a:rPr lang="hu-HU" sz="1700" b="1" dirty="0" err="1"/>
              <a:t>meta</a:t>
            </a:r>
            <a:r>
              <a:rPr lang="hu-HU" sz="1700" b="1" dirty="0"/>
              <a:t>-modulokat</a:t>
            </a:r>
            <a:r>
              <a:rPr lang="hu-HU" sz="1700" dirty="0"/>
              <a:t> (3×3 vagy 8-cellás „O”-formák).</a:t>
            </a:r>
          </a:p>
          <a:p>
            <a:r>
              <a:rPr lang="hu-HU" sz="1700" dirty="0"/>
              <a:t>Egy </a:t>
            </a:r>
            <a:r>
              <a:rPr lang="hu-HU" sz="1700" b="1" dirty="0" err="1"/>
              <a:t>sweep</a:t>
            </a:r>
            <a:r>
              <a:rPr lang="hu-HU" sz="1700" b="1" dirty="0"/>
              <a:t> line</a:t>
            </a:r>
            <a:r>
              <a:rPr lang="hu-HU" sz="1700" dirty="0"/>
              <a:t>-t képezünk </a:t>
            </a:r>
            <a:r>
              <a:rPr lang="hu-HU" sz="1700" dirty="0" err="1"/>
              <a:t>meta</a:t>
            </a:r>
            <a:r>
              <a:rPr lang="hu-HU" sz="1700" dirty="0"/>
              <a:t>-modulokból.</a:t>
            </a:r>
          </a:p>
          <a:p>
            <a:r>
              <a:rPr lang="hu-HU" sz="1700" dirty="0"/>
              <a:t>Két váltakozó fázis:</a:t>
            </a:r>
          </a:p>
          <a:p>
            <a:pPr lvl="1"/>
            <a:r>
              <a:rPr lang="hu-HU" sz="1700" b="1" dirty="0" err="1"/>
              <a:t>Clean</a:t>
            </a:r>
            <a:r>
              <a:rPr lang="hu-HU" sz="1700" dirty="0"/>
              <a:t> – hiányzó cellák feltöltése .</a:t>
            </a:r>
          </a:p>
          <a:p>
            <a:pPr lvl="1"/>
            <a:r>
              <a:rPr lang="hu-HU" sz="1700" b="1" dirty="0" err="1"/>
              <a:t>Advance</a:t>
            </a:r>
            <a:r>
              <a:rPr lang="hu-HU" sz="1700" dirty="0"/>
              <a:t> – a söprővonal egy oszloppal balra mozdul.</a:t>
            </a:r>
          </a:p>
          <a:p>
            <a:r>
              <a:rPr lang="hu-HU" sz="1700" dirty="0"/>
              <a:t>A folyamatot ismételve a teljes terület „kitakarításra kerül”.</a:t>
            </a:r>
          </a:p>
          <a:p>
            <a:r>
              <a:rPr lang="hu-HU" sz="1700" b="1" dirty="0"/>
              <a:t>Eredmény:</a:t>
            </a:r>
            <a:br>
              <a:rPr lang="hu-HU" sz="1700" dirty="0"/>
            </a:br>
            <a:r>
              <a:rPr lang="hu-HU" sz="1700" dirty="0"/>
              <a:t>Egy jól strukturált, </a:t>
            </a:r>
            <a:r>
              <a:rPr lang="hu-HU" sz="1700" b="1" dirty="0"/>
              <a:t>x-monoton hisztogram</a:t>
            </a:r>
            <a:r>
              <a:rPr lang="hu-HU" sz="1700" dirty="0"/>
              <a:t> konfiguráció.</a:t>
            </a:r>
          </a:p>
        </p:txBody>
      </p:sp>
    </p:spTree>
    <p:extLst>
      <p:ext uri="{BB962C8B-B14F-4D97-AF65-F5344CB8AC3E}">
        <p14:creationId xmlns:p14="http://schemas.microsoft.com/office/powerpoint/2010/main" val="2743312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BA94B11-C868-FF09-91D9-6C5A8D0E1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 dirty="0">
                <a:solidFill>
                  <a:srgbClr val="FFFFFF"/>
                </a:solidFill>
              </a:rPr>
              <a:t>IV. fázis: Hisztogram-átalakítás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510C5E-7CB0-32E6-F4EF-681F32DB1B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hu-HU" sz="2000" b="1" dirty="0"/>
              <a:t>Cél:</a:t>
            </a:r>
            <a:br>
              <a:rPr lang="hu-HU" sz="2000" dirty="0"/>
            </a:br>
            <a:r>
              <a:rPr lang="hu-HU" sz="2000" dirty="0"/>
              <a:t>Az elkészült hisztogramot átalakítani a célalak hisztogramjává.</a:t>
            </a:r>
          </a:p>
          <a:p>
            <a:r>
              <a:rPr lang="hu-HU" sz="2000" b="1" dirty="0"/>
              <a:t>Lépések:</a:t>
            </a:r>
            <a:endParaRPr lang="hu-HU" sz="2000" dirty="0"/>
          </a:p>
          <a:p>
            <a:r>
              <a:rPr lang="hu-HU" sz="2000" b="1" dirty="0"/>
              <a:t>Skálázás</a:t>
            </a:r>
            <a:r>
              <a:rPr lang="hu-HU" sz="2000" dirty="0"/>
              <a:t> – a hisztogramot 3×3-as rácsra igazítjuk.</a:t>
            </a:r>
          </a:p>
          <a:p>
            <a:r>
              <a:rPr lang="hu-HU" sz="2000" dirty="0"/>
              <a:t>Az alak </a:t>
            </a:r>
            <a:r>
              <a:rPr lang="hu-HU" sz="2000" b="1" dirty="0"/>
              <a:t>x-monotonból xy-monotonná</a:t>
            </a:r>
            <a:r>
              <a:rPr lang="hu-HU" sz="2000" dirty="0"/>
              <a:t> válik (két alapvonal mentén).</a:t>
            </a:r>
          </a:p>
          <a:p>
            <a:r>
              <a:rPr lang="hu-HU" sz="2000" b="1"/>
              <a:t>Eredmény</a:t>
            </a:r>
            <a:r>
              <a:rPr lang="hu-HU" sz="2000" b="1" dirty="0"/>
              <a:t>:</a:t>
            </a:r>
            <a:br>
              <a:rPr lang="hu-HU" sz="2000" dirty="0"/>
            </a:br>
            <a:r>
              <a:rPr lang="hu-HU" sz="2000" dirty="0"/>
              <a:t>A teljes átalakítás lezárul – a célkonfiguráció elérve,</a:t>
            </a:r>
            <a:br>
              <a:rPr lang="hu-HU" sz="2000" dirty="0"/>
            </a:br>
            <a:r>
              <a:rPr lang="hu-HU" sz="2000" dirty="0"/>
              <a:t>összefüggő és optimális időben.</a:t>
            </a:r>
          </a:p>
        </p:txBody>
      </p:sp>
    </p:spTree>
    <p:extLst>
      <p:ext uri="{BB962C8B-B14F-4D97-AF65-F5344CB8AC3E}">
        <p14:creationId xmlns:p14="http://schemas.microsoft.com/office/powerpoint/2010/main" val="100096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393</Words>
  <Application>Microsoft Office PowerPoint</Application>
  <PresentationFormat>Szélesvásznú</PresentationFormat>
  <Paragraphs>49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Office-téma</vt:lpstr>
      <vt:lpstr>Sliding Squares in Parallel</vt:lpstr>
      <vt:lpstr>Az alapprobléma</vt:lpstr>
      <vt:lpstr>Worst-case optimal algorithm</vt:lpstr>
      <vt:lpstr>I. fázis: Exoskeleton építése</vt:lpstr>
      <vt:lpstr>II. fázis: Scaffolding</vt:lpstr>
      <vt:lpstr>III. fázis: Sweeping into a histogram </vt:lpstr>
      <vt:lpstr>IV. fázis: Hisztogram-átalakítás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Lamelo2@sulid.hu</dc:creator>
  <cp:lastModifiedBy>Lamelo2@sulid.hu</cp:lastModifiedBy>
  <cp:revision>10</cp:revision>
  <dcterms:created xsi:type="dcterms:W3CDTF">2025-11-04T18:48:13Z</dcterms:created>
  <dcterms:modified xsi:type="dcterms:W3CDTF">2025-11-04T19:05:00Z</dcterms:modified>
</cp:coreProperties>
</file>