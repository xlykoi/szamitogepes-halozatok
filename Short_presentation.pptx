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9144000"/>
  <p:embeddedFontLst>
    <p:embeddedFont>
      <p:font typeface="Play"/>
      <p:regular r:id="rId13"/>
      <p:bold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Play-regular.fntdata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font" Target="fonts/Play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d0f6acda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ad0f6acda1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dia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tartalom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zakaszfejléc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artalomrész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Összehasonlítás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sak cím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Üres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talomrész képaláírással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ép képaláírással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függőleges szöveg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üggőleges cím és szöveg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rgbClr val="0A3041"/>
              </a:gs>
              <a:gs pos="100000">
                <a:srgbClr val="000000"/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/>
          <p:nvPr/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0">
                <a:srgbClr val="0F4861">
                  <a:alpha val="58823"/>
                </a:srgbClr>
              </a:gs>
              <a:gs pos="1000">
                <a:srgbClr val="0F4861">
                  <a:alpha val="58823"/>
                </a:srgb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/>
          <p:nvPr/>
        </p:nvSpPr>
        <p:spPr>
          <a:xfrm flipH="1" rot="5400000">
            <a:off x="2663054" y="-2653923"/>
            <a:ext cx="6858001" cy="12165846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00000">
                  <a:alpha val="27843"/>
                </a:srgbClr>
              </a:gs>
              <a:gs pos="100000">
                <a:srgbClr val="000000">
                  <a:alpha val="2784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/>
          <p:nvPr/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F4861">
                  <a:alpha val="49803"/>
                </a:srgbClr>
              </a:gs>
              <a:gs pos="100000">
                <a:srgbClr val="0F4861">
                  <a:alpha val="49803"/>
                </a:srgbClr>
              </a:gs>
            </a:gsLst>
            <a:lin ang="60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/>
          <p:nvPr/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0">
                <a:srgbClr val="000000">
                  <a:alpha val="34901"/>
                </a:srgbClr>
              </a:gs>
              <a:gs pos="13000">
                <a:srgbClr val="000000">
                  <a:alpha val="34901"/>
                </a:srgbClr>
              </a:gs>
              <a:gs pos="99000">
                <a:srgbClr val="0F4861">
                  <a:alpha val="0"/>
                </a:srgbClr>
              </a:gs>
              <a:gs pos="100000">
                <a:srgbClr val="0F4861">
                  <a:alpha val="0"/>
                </a:srgbClr>
              </a:gs>
            </a:gsLst>
            <a:lin ang="4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987713" y="4049"/>
            <a:ext cx="10216576" cy="4729040"/>
          </a:xfrm>
          <a:custGeom>
            <a:rect b="b" l="l" r="r" t="t"/>
            <a:pathLst>
              <a:path extrusionOk="0" h="4729040" w="10216576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0">
                <a:srgbClr val="0A3041">
                  <a:alpha val="3921"/>
                </a:srgbClr>
              </a:gs>
              <a:gs pos="7000">
                <a:srgbClr val="0A3041">
                  <a:alpha val="3921"/>
                </a:srgbClr>
              </a:gs>
              <a:gs pos="99000">
                <a:srgbClr val="156082">
                  <a:alpha val="23921"/>
                </a:srgbClr>
              </a:gs>
              <a:gs pos="100000">
                <a:srgbClr val="156082">
                  <a:alpha val="23921"/>
                </a:srgbClr>
              </a:gs>
            </a:gsLst>
            <a:lin ang="10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>
            <p:ph type="ctrTitle"/>
          </p:nvPr>
        </p:nvSpPr>
        <p:spPr>
          <a:xfrm>
            <a:off x="2026693" y="1030406"/>
            <a:ext cx="8147713" cy="30812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Play"/>
              <a:buNone/>
            </a:pPr>
            <a:r>
              <a:rPr lang="hu-HU" sz="4800">
                <a:solidFill>
                  <a:srgbClr val="FFFFFF"/>
                </a:solidFill>
              </a:rPr>
              <a:t>Sliding Squares in Parallel</a:t>
            </a:r>
            <a:endParaRPr/>
          </a:p>
        </p:txBody>
      </p:sp>
      <p:sp>
        <p:nvSpPr>
          <p:cNvPr id="92" name="Google Shape;92;p13"/>
          <p:cNvSpPr txBox="1"/>
          <p:nvPr>
            <p:ph idx="1" type="subTitle"/>
          </p:nvPr>
        </p:nvSpPr>
        <p:spPr>
          <a:xfrm>
            <a:off x="1559943" y="5171093"/>
            <a:ext cx="9078628" cy="8606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</a:pPr>
            <a:r>
              <a:rPr lang="hu-HU" sz="2200">
                <a:solidFill>
                  <a:srgbClr val="FFFFFF"/>
                </a:solidFill>
              </a:rPr>
              <a:t>KÉSZÍTETTE: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</a:pPr>
            <a:r>
              <a:rPr lang="hu-HU" sz="2200">
                <a:solidFill>
                  <a:srgbClr val="FFFFFF"/>
                </a:solidFill>
              </a:rPr>
              <a:t>GERGELYI LAURA BOGLÁRKA, SZÁSZ KRISTÓF RÓBERT, KISS MARCELL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Az alapprobléma</a:t>
            </a:r>
            <a:endParaRPr/>
          </a:p>
        </p:txBody>
      </p:sp>
      <p:sp>
        <p:nvSpPr>
          <p:cNvPr id="103" name="Google Shape;103;p14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2700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Bemenet: kezdő alak C1​, cél alak C2​.</a:t>
            </a:r>
            <a:endParaRPr/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Feladat: legális párhuzamos mozdulatok sorozatával </a:t>
            </a:r>
            <a:r>
              <a:rPr lang="hu-HU" sz="2000">
                <a:latin typeface="Arial"/>
                <a:ea typeface="Arial"/>
                <a:cs typeface="Arial"/>
                <a:sym typeface="Arial"/>
              </a:rPr>
              <a:t>C1 -&gt; C2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​.</a:t>
            </a:r>
            <a:endParaRPr/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Korlátok:</a:t>
            </a:r>
            <a:endParaRPr/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Összefüggőség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megőrzése (mindig legyen kapcsolat).</a:t>
            </a:r>
            <a:endParaRPr/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Ütközésmentesség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(a mozdulatok ne fedjék egymást).</a:t>
            </a:r>
            <a:endParaRPr/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Kimenet: átalakulási ütemezés (minden lépésben több modul is mozoghat).</a:t>
            </a:r>
            <a:endParaRPr/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Cél: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minimalizálni a </a:t>
            </a: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makespant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(párhuzamos lépések számát).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5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Worst-case optimal algorithm</a:t>
            </a:r>
            <a:endParaRPr/>
          </a:p>
        </p:txBody>
      </p:sp>
      <p:sp>
        <p:nvSpPr>
          <p:cNvPr id="114" name="Google Shape;114;p15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A 4 fázis: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Exoskeleton építése (Gathering Squares)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Scaffolding (állványzat) kialakítása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Söprés (Sweeping) – hisztogrammá alakítás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Hisztogram-átalakítás (Histogram Transformation)</a:t>
            </a:r>
            <a:endParaRPr sz="2000"/>
          </a:p>
          <a:p>
            <a:pPr indent="-101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6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6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I. fázis: Exoskeleton építése</a:t>
            </a:r>
            <a:endParaRPr/>
          </a:p>
        </p:txBody>
      </p:sp>
      <p:sp>
        <p:nvSpPr>
          <p:cNvPr id="125" name="Google Shape;125;p16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b="1" lang="hu-HU" sz="1900"/>
              <a:t>Cél: </a:t>
            </a:r>
            <a:r>
              <a:rPr lang="hu-HU" sz="1900"/>
              <a:t>Egy stabil, manipulálható </a:t>
            </a:r>
            <a:r>
              <a:rPr b="1" lang="hu-HU" sz="1900"/>
              <a:t>exoskeleton</a:t>
            </a:r>
            <a:r>
              <a:rPr lang="hu-HU" sz="1900"/>
              <a:t> kialakítása a kezdeti alakból.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b="1" lang="hu-HU" sz="1900"/>
              <a:t>Lépések:</a:t>
            </a:r>
            <a:endParaRPr sz="19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Kiszámítjuk a </a:t>
            </a:r>
            <a:r>
              <a:rPr b="1" lang="hu-HU" sz="1900"/>
              <a:t>vázat (skeleton)</a:t>
            </a:r>
            <a:r>
              <a:rPr lang="hu-HU" sz="1900"/>
              <a:t> – fa-szerű mag.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Kiválasztunk egy nagyobb </a:t>
            </a:r>
            <a:r>
              <a:rPr b="1" lang="hu-HU" sz="1900"/>
              <a:t>részfát</a:t>
            </a:r>
            <a:r>
              <a:rPr lang="hu-HU" sz="1900"/>
              <a:t> 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Körbevesszük egy </a:t>
            </a:r>
            <a:r>
              <a:rPr b="1" lang="hu-HU" sz="1900"/>
              <a:t>héjjal (shell)</a:t>
            </a:r>
            <a:r>
              <a:rPr lang="hu-HU" sz="1900"/>
              <a:t>, így lesz </a:t>
            </a:r>
            <a:r>
              <a:rPr b="1" lang="hu-HU" sz="1900"/>
              <a:t>core + shell</a:t>
            </a:r>
            <a:r>
              <a:rPr lang="hu-HU" sz="1900"/>
              <a:t> szerkezet.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belső részben legalább egy cella üres marad, hogy a modulok mozoghassanak.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mozgatásokhoz </a:t>
            </a:r>
            <a:r>
              <a:rPr b="1" lang="hu-HU" sz="1900"/>
              <a:t>Inchworm-Push</a:t>
            </a:r>
            <a:r>
              <a:rPr lang="hu-HU" sz="1900"/>
              <a:t> és </a:t>
            </a:r>
            <a:r>
              <a:rPr b="1" lang="hu-HU" sz="1900"/>
              <a:t>Inchworm-Pull</a:t>
            </a:r>
            <a:r>
              <a:rPr lang="hu-HU" sz="1900"/>
              <a:t> lokális műveleteket használunk.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b="1" lang="hu-HU" sz="1900"/>
              <a:t>Eredmény:</a:t>
            </a:r>
            <a:br>
              <a:rPr lang="hu-HU" sz="1900"/>
            </a:br>
            <a:r>
              <a:rPr lang="hu-HU" sz="1900"/>
              <a:t>Nagy, összefüggő exoskeleton.</a:t>
            </a:r>
            <a:endParaRPr/>
          </a:p>
          <a:p>
            <a:pPr indent="-10795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7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7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7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7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II. fázis: Scaffolding</a:t>
            </a:r>
            <a:endParaRPr/>
          </a:p>
        </p:txBody>
      </p:sp>
      <p:sp>
        <p:nvSpPr>
          <p:cNvPr id="136" name="Google Shape;136;p17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Cél:</a:t>
            </a:r>
            <a:br>
              <a:rPr lang="hu-HU" sz="2000"/>
            </a:br>
            <a:r>
              <a:rPr lang="hu-HU" sz="2000"/>
              <a:t>Az exoskeletonból </a:t>
            </a:r>
            <a:r>
              <a:rPr b="1" lang="hu-HU" sz="2000"/>
              <a:t>T-alakú állvány</a:t>
            </a:r>
            <a:r>
              <a:rPr lang="hu-HU" sz="2000"/>
              <a:t> létrehozása a bounding boxon belül.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Fő lépések: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Az exoskeletont </a:t>
            </a:r>
            <a:r>
              <a:rPr b="1" lang="hu-HU" sz="2000"/>
              <a:t>tömörítjük</a:t>
            </a:r>
            <a:r>
              <a:rPr lang="hu-HU" sz="2000"/>
              <a:t>, hogy a mag szilárd tömb legyen.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 jobb szélső pontból </a:t>
            </a:r>
            <a:r>
              <a:rPr b="1" lang="hu-HU" sz="2000"/>
              <a:t>vízszintes kar</a:t>
            </a:r>
            <a:r>
              <a:rPr lang="hu-HU" sz="2000"/>
              <a:t> nő ki (3×3 blokk).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Ezt </a:t>
            </a:r>
            <a:r>
              <a:rPr b="1" lang="hu-HU" sz="2000"/>
              <a:t>függőlegesen</a:t>
            </a:r>
            <a:r>
              <a:rPr lang="hu-HU" sz="2000"/>
              <a:t> kiterjesztjük felfelé és lefelé.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➡ Ezzel egy </a:t>
            </a:r>
            <a:r>
              <a:rPr b="1" lang="hu-HU" sz="2000"/>
              <a:t>függőleges söprővonal</a:t>
            </a:r>
            <a:r>
              <a:rPr lang="hu-HU" sz="2000"/>
              <a:t> jön létre,</a:t>
            </a:r>
            <a:br>
              <a:rPr lang="hu-HU" sz="2000"/>
            </a:br>
            <a:r>
              <a:rPr lang="hu-HU" sz="2000"/>
              <a:t>amely a 3. fázis során vezeti a mozgást.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8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8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8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lay"/>
              <a:buNone/>
            </a:pPr>
            <a:r>
              <a:rPr lang="hu-HU" sz="4000">
                <a:solidFill>
                  <a:schemeClr val="lt1"/>
                </a:solidFill>
              </a:rPr>
              <a:t>III. fázis: Sweeping into a histogram </a:t>
            </a:r>
            <a:endParaRPr/>
          </a:p>
        </p:txBody>
      </p:sp>
      <p:sp>
        <p:nvSpPr>
          <p:cNvPr id="147" name="Google Shape;147;p18"/>
          <p:cNvSpPr txBox="1"/>
          <p:nvPr>
            <p:ph idx="1" type="body"/>
          </p:nvPr>
        </p:nvSpPr>
        <p:spPr>
          <a:xfrm>
            <a:off x="1371599" y="1885279"/>
            <a:ext cx="9724031" cy="4374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Cél:</a:t>
            </a:r>
            <a:br>
              <a:rPr lang="hu-HU" sz="1700"/>
            </a:br>
            <a:r>
              <a:rPr lang="hu-HU" sz="1700"/>
              <a:t>A teljes konfigurációt „lesöpörni” hisztogram-alakra.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Fő ötlet:</a:t>
            </a:r>
            <a:endParaRPr sz="17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Bevezetjük a </a:t>
            </a:r>
            <a:r>
              <a:rPr b="1" lang="hu-HU" sz="1700"/>
              <a:t>meta-modulokat</a:t>
            </a:r>
            <a:r>
              <a:rPr lang="hu-HU" sz="1700"/>
              <a:t> (3×3 vagy 8-cellás „O”-formák).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Egy </a:t>
            </a:r>
            <a:r>
              <a:rPr b="1" lang="hu-HU" sz="1700"/>
              <a:t>sweep line</a:t>
            </a:r>
            <a:r>
              <a:rPr lang="hu-HU" sz="1700"/>
              <a:t>-t képezünk meta-modulokból.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Két váltakozó fázis: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Clean</a:t>
            </a:r>
            <a:r>
              <a:rPr lang="hu-HU" sz="1700"/>
              <a:t> – hiányzó cellák feltöltése 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Advance</a:t>
            </a:r>
            <a:r>
              <a:rPr lang="hu-HU" sz="1700"/>
              <a:t> – a söprővonal egy oszloppal balra mozdul.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A folyamatot ismételve a teljes terület „kitakarításra kerül”.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Eredmény:</a:t>
            </a:r>
            <a:br>
              <a:rPr lang="hu-HU" sz="1700"/>
            </a:br>
            <a:r>
              <a:rPr lang="hu-HU" sz="1700"/>
              <a:t>Egy jól strukturált, </a:t>
            </a:r>
            <a:r>
              <a:rPr b="1" lang="hu-HU" sz="1700"/>
              <a:t>x-monoton hisztogram</a:t>
            </a:r>
            <a:r>
              <a:rPr lang="hu-HU" sz="1700"/>
              <a:t> konfiguráció.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IV. fázis: Hisztogram-átalakítás</a:t>
            </a:r>
            <a:endParaRPr/>
          </a:p>
        </p:txBody>
      </p:sp>
      <p:sp>
        <p:nvSpPr>
          <p:cNvPr id="158" name="Google Shape;158;p19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Cél:</a:t>
            </a:r>
            <a:br>
              <a:rPr lang="hu-HU" sz="2000"/>
            </a:br>
            <a:r>
              <a:rPr lang="hu-HU" sz="2000"/>
              <a:t>Az elkészült hisztogramot átalakítani a célalak hisztogramjává.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Lépések: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Skálázás</a:t>
            </a:r>
            <a:r>
              <a:rPr lang="hu-HU" sz="2000"/>
              <a:t> – a hisztogramot 3×3-as rácsra igazítjuk.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Az alak </a:t>
            </a:r>
            <a:r>
              <a:rPr b="1" lang="hu-HU" sz="2000"/>
              <a:t>x-monotonból xy-monotonná</a:t>
            </a:r>
            <a:r>
              <a:rPr lang="hu-HU" sz="2000"/>
              <a:t> válik (két alapvonal mentén).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Eredmény:</a:t>
            </a:r>
            <a:br>
              <a:rPr lang="hu-HU" sz="2000"/>
            </a:br>
            <a:r>
              <a:rPr lang="hu-HU" sz="2000"/>
              <a:t>A teljes átalakítás lezárul – a célkonfiguráció elérve,</a:t>
            </a:r>
            <a:br>
              <a:rPr lang="hu-HU" sz="2000"/>
            </a:br>
            <a:r>
              <a:rPr lang="hu-HU" sz="2000"/>
              <a:t>összefüggő és optimális időben.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0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 flipH="1" rot="10800000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0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19991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764"/>
                </a:srgbClr>
              </a:gs>
              <a:gs pos="100000">
                <a:srgbClr val="0A3041">
                  <a:alpha val="51764"/>
                </a:srgbClr>
              </a:gs>
            </a:gsLst>
            <a:lin ang="16799925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</a:t>
            </a:r>
            <a:endParaRPr/>
          </a:p>
        </p:txBody>
      </p:sp>
      <p:pic>
        <p:nvPicPr>
          <p:cNvPr id="169" name="Google Shape;169;p20" title="Figure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8500" y="1823050"/>
            <a:ext cx="6096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0"/>
          <p:cNvSpPr txBox="1"/>
          <p:nvPr>
            <p:ph idx="1" type="body"/>
          </p:nvPr>
        </p:nvSpPr>
        <p:spPr>
          <a:xfrm>
            <a:off x="6423625" y="2019600"/>
            <a:ext cx="4979700" cy="43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4765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lang="hu-HU" sz="2300"/>
              <a:t>Összesen ~7500 sikeres futtatás</a:t>
            </a:r>
            <a:endParaRPr sz="2300"/>
          </a:p>
          <a:p>
            <a:pPr indent="-24765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~62%-os sikerráta</a:t>
            </a:r>
            <a:endParaRPr sz="2300"/>
          </a:p>
          <a:p>
            <a:pPr indent="-24765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A worst-case optimal algoritmus O(P)</a:t>
            </a:r>
            <a:endParaRPr sz="2300"/>
          </a:p>
          <a:p>
            <a:pPr indent="-24765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Ez a plot lineáris?</a:t>
            </a:r>
            <a:endParaRPr sz="2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