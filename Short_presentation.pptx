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</p:sldIdLst>
  <p:sldSz cx="12192000" cy="6858000"/>
  <p:notesSz cx="6858000" cy="9144000"/>
  <p:embeddedFontLs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9" name="Google Shape;13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0" name="Google Shape;15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1" name="Google Shape;16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2" name="Google Shape;17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3" name="Google Shape;18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4" name="Google Shape;19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5" name="Google Shape;20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1" name="Google Shape;22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7" name="Google Shape;24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8" name="Google Shape;25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ad6479c912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9" name="Google Shape;269;g3ad6479c91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ad6479c912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81" name="Google Shape;281;g3ad6479c912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ad6479c912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ad6479c912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3"/>
          <p:cNvSpPr/>
          <p:nvPr/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rgbClr val="0A3041"/>
              </a:gs>
              <a:gs pos="100000">
                <a:srgbClr val="000000"/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3"/>
          <p:cNvSpPr/>
          <p:nvPr/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0">
                <a:srgbClr val="0F4861">
                  <a:alpha val="58431"/>
                </a:srgbClr>
              </a:gs>
              <a:gs pos="1000">
                <a:srgbClr val="0F4861">
                  <a:alpha val="58431"/>
                </a:srgb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3"/>
          <p:cNvSpPr/>
          <p:nvPr/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0">
                <a:srgbClr val="0A3041">
                  <a:alpha val="0"/>
                </a:srgbClr>
              </a:gs>
              <a:gs pos="13000">
                <a:srgbClr val="0A3041">
                  <a:alpha val="0"/>
                </a:srgbClr>
              </a:gs>
              <a:gs pos="99000">
                <a:srgbClr val="000000">
                  <a:alpha val="27450"/>
                </a:srgbClr>
              </a:gs>
              <a:gs pos="100000">
                <a:srgbClr val="000000">
                  <a:alpha val="2745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/>
          <p:nvPr/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0">
                <a:srgbClr val="0A3041">
                  <a:alpha val="0"/>
                </a:srgbClr>
              </a:gs>
              <a:gs pos="13000">
                <a:srgbClr val="0A3041">
                  <a:alpha val="0"/>
                </a:srgbClr>
              </a:gs>
              <a:gs pos="99000">
                <a:srgbClr val="0F4861">
                  <a:alpha val="49411"/>
                </a:srgbClr>
              </a:gs>
              <a:gs pos="100000">
                <a:srgbClr val="0F4861">
                  <a:alpha val="49411"/>
                </a:srgbClr>
              </a:gs>
            </a:gsLst>
            <a:lin ang="6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3"/>
          <p:cNvSpPr/>
          <p:nvPr/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0">
                <a:srgbClr val="000000">
                  <a:alpha val="34509"/>
                </a:srgbClr>
              </a:gs>
              <a:gs pos="13000">
                <a:srgbClr val="000000">
                  <a:alpha val="34509"/>
                </a:srgbClr>
              </a:gs>
              <a:gs pos="99000">
                <a:srgbClr val="0F4861">
                  <a:alpha val="0"/>
                </a:srgbClr>
              </a:gs>
              <a:gs pos="100000">
                <a:srgbClr val="0F4861">
                  <a:alpha val="0"/>
                </a:srgbClr>
              </a:gs>
            </a:gsLst>
            <a:lin ang="4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987713" y="4049"/>
            <a:ext cx="10216576" cy="4729040"/>
          </a:xfrm>
          <a:custGeom>
            <a:avLst/>
            <a:gdLst/>
            <a:ahLst/>
            <a:cxnLst/>
            <a:rect l="l" t="t" r="r" b="b"/>
            <a:pathLst>
              <a:path w="10216576" h="4729040" extrusionOk="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0">
                <a:srgbClr val="0A3041">
                  <a:alpha val="3529"/>
                </a:srgbClr>
              </a:gs>
              <a:gs pos="7000">
                <a:srgbClr val="0A3041">
                  <a:alpha val="3529"/>
                </a:srgbClr>
              </a:gs>
              <a:gs pos="99000">
                <a:srgbClr val="156082">
                  <a:alpha val="23529"/>
                </a:srgbClr>
              </a:gs>
              <a:gs pos="100000">
                <a:srgbClr val="156082">
                  <a:alpha val="23529"/>
                </a:srgbClr>
              </a:gs>
            </a:gsLst>
            <a:lin ang="10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3"/>
          <p:cNvSpPr txBox="1"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Play"/>
              <a:buNone/>
            </a:pPr>
            <a:r>
              <a:rPr lang="hu-HU" sz="4800">
                <a:solidFill>
                  <a:srgbClr val="FFFFFF"/>
                </a:solidFill>
              </a:rPr>
              <a:t>Sliding Squares in Parallel</a:t>
            </a:r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2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78624"/>
              <a:buNone/>
            </a:pPr>
            <a:r>
              <a:rPr lang="hu-HU" sz="2200">
                <a:solidFill>
                  <a:srgbClr val="FFFFFF"/>
                </a:solidFill>
              </a:rPr>
              <a:t>KÉSZÍTETTE: 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ct val="78624"/>
              <a:buNone/>
            </a:pPr>
            <a:r>
              <a:rPr lang="hu-HU" sz="2200">
                <a:solidFill>
                  <a:srgbClr val="FFFFFF"/>
                </a:solidFill>
              </a:rPr>
              <a:t>GERGELYI LAURA BOGLÁRKA, SZÁSZ KRISTÓF RÓBERT, KISS MARCELL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4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4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Az alapprobléma</a:t>
            </a:r>
            <a:endParaRPr/>
          </a:p>
        </p:txBody>
      </p:sp>
      <p:sp>
        <p:nvSpPr>
          <p:cNvPr id="103" name="Google Shape;103;p14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Bemenet: kezdő alak C1​, cél alak C2​.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Feladat: legális párhuzamos mozdulatok sorozatával </a:t>
            </a:r>
            <a:r>
              <a:rPr lang="hu-HU" sz="2000">
                <a:latin typeface="Arial"/>
                <a:ea typeface="Arial"/>
                <a:cs typeface="Arial"/>
                <a:sym typeface="Arial"/>
              </a:rPr>
              <a:t>C1 -&gt; C2</a:t>
            </a: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​.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Korlátok: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hu-HU" sz="2000" b="1" i="0" u="none" strike="noStrike" cap="none">
                <a:latin typeface="Arial"/>
                <a:ea typeface="Arial"/>
                <a:cs typeface="Arial"/>
                <a:sym typeface="Arial"/>
              </a:rPr>
              <a:t>Összefüggőség</a:t>
            </a: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 megőrzése (mindig legyen kapcsolat).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hu-HU" sz="2000" b="1" i="0" u="none" strike="noStrike" cap="none">
                <a:latin typeface="Arial"/>
                <a:ea typeface="Arial"/>
                <a:cs typeface="Arial"/>
                <a:sym typeface="Arial"/>
              </a:rPr>
              <a:t>Ütközésmentesség</a:t>
            </a: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 (a mozdulatok ne fedjék egymást).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Kimenet: átalakulási ütemezés (minden lépésben több modul is mozoghat).</a:t>
            </a:r>
            <a:endParaRPr/>
          </a:p>
          <a:p>
            <a:pPr marL="0" marR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hu-HU" sz="2000" b="1" i="0" u="none" strike="noStrike" cap="none">
                <a:latin typeface="Arial"/>
                <a:ea typeface="Arial"/>
                <a:cs typeface="Arial"/>
                <a:sym typeface="Arial"/>
              </a:rPr>
              <a:t>Cél:</a:t>
            </a: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 minimalizálni a </a:t>
            </a:r>
            <a:r>
              <a:rPr lang="hu-HU" sz="2000" b="1" i="0" u="none" strike="noStrike" cap="none">
                <a:latin typeface="Arial"/>
                <a:ea typeface="Arial"/>
                <a:cs typeface="Arial"/>
                <a:sym typeface="Arial"/>
              </a:rPr>
              <a:t>makespant</a:t>
            </a:r>
            <a:r>
              <a:rPr lang="hu-HU" sz="2000" b="0" i="0" u="none" strike="noStrike" cap="none">
                <a:latin typeface="Arial"/>
                <a:ea typeface="Arial"/>
                <a:cs typeface="Arial"/>
                <a:sym typeface="Arial"/>
              </a:rPr>
              <a:t> (párhuzamos lépések számát).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5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5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5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5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Worst-case optimal algorithm</a:t>
            </a:r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A 4 fázis: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Exoskeleton építése (Gathering Squares)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Scaffolding (állványzat) kialakítása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Söprés (Sweeping) – hisztogrammá alakítás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Hisztogram-átalakítás (Histogram Transformation)</a:t>
            </a:r>
            <a:endParaRPr sz="2000"/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6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6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6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6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I. fázis: Exoskeleton építése</a:t>
            </a:r>
            <a:endParaRPr/>
          </a:p>
        </p:txBody>
      </p:sp>
      <p:sp>
        <p:nvSpPr>
          <p:cNvPr id="125" name="Google Shape;125;p16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 b="1"/>
              <a:t>Cél: </a:t>
            </a:r>
            <a:r>
              <a:rPr lang="hu-HU" sz="1900"/>
              <a:t>Egy stabil, manipulálható </a:t>
            </a:r>
            <a:r>
              <a:rPr lang="hu-HU" sz="1900" b="1"/>
              <a:t>exoskeleton</a:t>
            </a:r>
            <a:r>
              <a:rPr lang="hu-HU" sz="1900"/>
              <a:t> kialakítása a kezdeti alakból.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 b="1"/>
              <a:t>Lépések:</a:t>
            </a:r>
            <a:endParaRPr sz="19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Kiszámítjuk a </a:t>
            </a:r>
            <a:r>
              <a:rPr lang="hu-HU" sz="1900" b="1"/>
              <a:t>vázat (skeleton)</a:t>
            </a:r>
            <a:r>
              <a:rPr lang="hu-HU" sz="1900"/>
              <a:t> – fa-szerű mag.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Kiválasztunk egy nagyobb </a:t>
            </a:r>
            <a:r>
              <a:rPr lang="hu-HU" sz="1900" b="1"/>
              <a:t>részfát</a:t>
            </a:r>
            <a:r>
              <a:rPr lang="hu-HU" sz="1900"/>
              <a:t> 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Körbevesszük egy </a:t>
            </a:r>
            <a:r>
              <a:rPr lang="hu-HU" sz="1900" b="1"/>
              <a:t>héjjal (shell)</a:t>
            </a:r>
            <a:r>
              <a:rPr lang="hu-HU" sz="1900"/>
              <a:t>, így lesz </a:t>
            </a:r>
            <a:r>
              <a:rPr lang="hu-HU" sz="1900" b="1"/>
              <a:t>core + shell</a:t>
            </a:r>
            <a:r>
              <a:rPr lang="hu-HU" sz="1900"/>
              <a:t> szerkezet.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A belső részben legalább egy cella üres marad, hogy a modulok mozoghassanak.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/>
              <a:t>A mozgatásokhoz </a:t>
            </a:r>
            <a:r>
              <a:rPr lang="hu-HU" sz="1900" b="1"/>
              <a:t>Inchworm-Push</a:t>
            </a:r>
            <a:r>
              <a:rPr lang="hu-HU" sz="1900"/>
              <a:t> és </a:t>
            </a:r>
            <a:r>
              <a:rPr lang="hu-HU" sz="1900" b="1"/>
              <a:t>Inchworm-Pull</a:t>
            </a:r>
            <a:r>
              <a:rPr lang="hu-HU" sz="1900"/>
              <a:t> lokális műveleteket használunk.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lang="hu-HU" sz="1900" b="1"/>
              <a:t>Eredmény:</a:t>
            </a:r>
            <a:br>
              <a:rPr lang="hu-HU" sz="1900"/>
            </a:br>
            <a:r>
              <a:rPr lang="hu-HU" sz="1900"/>
              <a:t>Nagy, összefüggő exoskeleton.</a:t>
            </a:r>
            <a:endParaRPr/>
          </a:p>
          <a:p>
            <a:pPr marL="228600" lvl="0" indent="-1079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</a:pPr>
            <a:endParaRPr sz="1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7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7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7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7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II. fázis: Scaffolding</a:t>
            </a:r>
            <a:endParaRPr/>
          </a:p>
        </p:txBody>
      </p:sp>
      <p:sp>
        <p:nvSpPr>
          <p:cNvPr id="136" name="Google Shape;136;p17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Cél:</a:t>
            </a:r>
            <a:br>
              <a:rPr lang="hu-HU" sz="2000"/>
            </a:br>
            <a:r>
              <a:rPr lang="hu-HU" sz="2000"/>
              <a:t>Az exoskeletonból </a:t>
            </a:r>
            <a:r>
              <a:rPr lang="hu-HU" sz="2000" b="1"/>
              <a:t>T-alakú állvány</a:t>
            </a:r>
            <a:r>
              <a:rPr lang="hu-HU" sz="2000"/>
              <a:t> létrehozása a bounding boxon belül.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Fő lépések: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Az exoskeletont </a:t>
            </a:r>
            <a:r>
              <a:rPr lang="hu-HU" sz="2000" b="1"/>
              <a:t>tömörítjük</a:t>
            </a:r>
            <a:r>
              <a:rPr lang="hu-HU" sz="2000"/>
              <a:t>, hogy a mag szilárd tömb legyen.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A jobb szélső pontból </a:t>
            </a:r>
            <a:r>
              <a:rPr lang="hu-HU" sz="2000" b="1"/>
              <a:t>vízszintes kar</a:t>
            </a:r>
            <a:r>
              <a:rPr lang="hu-HU" sz="2000"/>
              <a:t> nő ki (3×3 blokk).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Ezt </a:t>
            </a:r>
            <a:r>
              <a:rPr lang="hu-HU" sz="2000" b="1"/>
              <a:t>függőlegesen</a:t>
            </a:r>
            <a:r>
              <a:rPr lang="hu-HU" sz="2000"/>
              <a:t> kiterjesztjük felfelé és lefelé.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➡ Ezzel egy </a:t>
            </a:r>
            <a:r>
              <a:rPr lang="hu-HU" sz="2000" b="1"/>
              <a:t>függőleges söprővonal</a:t>
            </a:r>
            <a:r>
              <a:rPr lang="hu-HU" sz="2000"/>
              <a:t> jön létre,</a:t>
            </a:r>
            <a:br>
              <a:rPr lang="hu-HU" sz="2000"/>
            </a:br>
            <a:r>
              <a:rPr lang="hu-HU" sz="2000"/>
              <a:t>amely a 3. fázis során vezeti a mozgást.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8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8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8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8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8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Play"/>
              <a:buNone/>
            </a:pPr>
            <a:r>
              <a:rPr lang="hu-HU" sz="4000">
                <a:solidFill>
                  <a:schemeClr val="lt1"/>
                </a:solidFill>
              </a:rPr>
              <a:t>III. fázis: Sweeping into a histogram </a:t>
            </a:r>
            <a:endParaRPr/>
          </a:p>
        </p:txBody>
      </p:sp>
      <p:sp>
        <p:nvSpPr>
          <p:cNvPr id="147" name="Google Shape;147;p18"/>
          <p:cNvSpPr txBox="1">
            <a:spLocks noGrp="1"/>
          </p:cNvSpPr>
          <p:nvPr>
            <p:ph type="body" idx="1"/>
          </p:nvPr>
        </p:nvSpPr>
        <p:spPr>
          <a:xfrm>
            <a:off x="1371599" y="1885279"/>
            <a:ext cx="9724031" cy="4374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 b="1"/>
              <a:t>Cél:</a:t>
            </a:r>
            <a:br>
              <a:rPr lang="hu-HU" sz="1700"/>
            </a:br>
            <a:r>
              <a:rPr lang="hu-HU" sz="1700"/>
              <a:t>A teljes konfigurációt „lesöpörni” hisztogram-alakra.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 b="1"/>
              <a:t>Fő ötlet:</a:t>
            </a:r>
            <a:endParaRPr sz="17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Bevezetjük a </a:t>
            </a:r>
            <a:r>
              <a:rPr lang="hu-HU" sz="1700" b="1"/>
              <a:t>meta-modulokat</a:t>
            </a:r>
            <a:r>
              <a:rPr lang="hu-HU" sz="1700"/>
              <a:t> (3×3 vagy 8-cellás „O”-formák).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Egy </a:t>
            </a:r>
            <a:r>
              <a:rPr lang="hu-HU" sz="1700" b="1"/>
              <a:t>sweep line</a:t>
            </a:r>
            <a:r>
              <a:rPr lang="hu-HU" sz="1700"/>
              <a:t>-t képezünk meta-modulokból.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Két váltakozó fázis: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 b="1"/>
              <a:t>Clean</a:t>
            </a:r>
            <a:r>
              <a:rPr lang="hu-HU" sz="1700"/>
              <a:t> – hiányzó cellák feltöltése .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 b="1"/>
              <a:t>Advance</a:t>
            </a:r>
            <a:r>
              <a:rPr lang="hu-HU" sz="1700"/>
              <a:t> – a söprővonal egy oszloppal balra mozdul.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/>
              <a:t>A folyamatot ismételve a teljes terület „kitakarításra kerül”.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hu-HU" sz="1700" b="1"/>
              <a:t>Eredmény:</a:t>
            </a:r>
            <a:br>
              <a:rPr lang="hu-HU" sz="1700"/>
            </a:br>
            <a:r>
              <a:rPr lang="hu-HU" sz="1700"/>
              <a:t>Egy jól strukturált, </a:t>
            </a:r>
            <a:r>
              <a:rPr lang="hu-HU" sz="1700" b="1"/>
              <a:t>x-monoton hisztogram</a:t>
            </a:r>
            <a:r>
              <a:rPr lang="hu-HU" sz="1700"/>
              <a:t> konfiguráció.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9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9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9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9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IV. fázis: Hisztogram-átalakítás</a:t>
            </a:r>
            <a:endParaRPr/>
          </a:p>
        </p:txBody>
      </p:sp>
      <p:sp>
        <p:nvSpPr>
          <p:cNvPr id="158" name="Google Shape;158;p19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Cél:</a:t>
            </a:r>
            <a:br>
              <a:rPr lang="hu-HU" sz="2000"/>
            </a:br>
            <a:r>
              <a:rPr lang="hu-HU" sz="2000"/>
              <a:t>Az elkészült hisztogramot átalakítani a célalak hisztogramjává.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Lépések:</a:t>
            </a:r>
            <a:endParaRPr sz="20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Skálázás</a:t>
            </a:r>
            <a:r>
              <a:rPr lang="hu-HU" sz="2000"/>
              <a:t> – a hisztogramot 3×3-as rácsra igazítjuk.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/>
              <a:t>Az alak </a:t>
            </a:r>
            <a:r>
              <a:rPr lang="hu-HU" sz="2000" b="1"/>
              <a:t>x-monotonból xy-monotonná</a:t>
            </a:r>
            <a:r>
              <a:rPr lang="hu-HU" sz="2000"/>
              <a:t> válik (két alapvonal mentén).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hu-HU" sz="2000" b="1"/>
              <a:t>Eredmény:</a:t>
            </a:r>
            <a:br>
              <a:rPr lang="hu-HU" sz="2000"/>
            </a:br>
            <a:r>
              <a:rPr lang="hu-HU" sz="2000"/>
              <a:t>A teljes átalakítás lezárul – a célkonfiguráció elérve,</a:t>
            </a:r>
            <a:br>
              <a:rPr lang="hu-HU" sz="2000"/>
            </a:br>
            <a:r>
              <a:rPr lang="hu-HU" sz="2000"/>
              <a:t>összefüggő és optimális időben.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0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0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0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0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0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Szimulációs program</a:t>
            </a:r>
            <a:endParaRPr/>
          </a:p>
        </p:txBody>
      </p:sp>
      <p:sp>
        <p:nvSpPr>
          <p:cNvPr id="169" name="Google Shape;169;p20"/>
          <p:cNvSpPr txBox="1">
            <a:spLocks noGrp="1"/>
          </p:cNvSpPr>
          <p:nvPr>
            <p:ph type="body" idx="1"/>
          </p:nvPr>
        </p:nvSpPr>
        <p:spPr>
          <a:xfrm>
            <a:off x="1723135" y="1464230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hu-HU" sz="2000" b="1"/>
              <a:t>Technológiák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hu-HU" sz="2000"/>
              <a:t>Python 3 – a teljes logika megvalósítása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hu-HU" sz="2000"/>
              <a:t>Tkinter – grafikus felület (modulok kirajzolása, lépésről lépésre animáció)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hu-HU" sz="2000"/>
              <a:t>Object-oriented struktúra – jól szeparált modulok, könnyű bővíthetőség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hu-HU" sz="2000"/>
              <a:t>Deepcopy alapú szimuláció – biztonságos állapotkezelés a tervezési lépésekhez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1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21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1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1"/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1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Program felépítése</a:t>
            </a:r>
            <a:endParaRPr/>
          </a:p>
        </p:txBody>
      </p:sp>
      <p:sp>
        <p:nvSpPr>
          <p:cNvPr id="180" name="Google Shape;180;p21"/>
          <p:cNvSpPr txBox="1">
            <a:spLocks noGrp="1"/>
          </p:cNvSpPr>
          <p:nvPr>
            <p:ph type="body" idx="1"/>
          </p:nvPr>
        </p:nvSpPr>
        <p:spPr>
          <a:xfrm>
            <a:off x="712215" y="2257338"/>
            <a:ext cx="10133585" cy="3977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Char char="•"/>
            </a:pPr>
            <a:r>
              <a:rPr lang="hu-HU" sz="1500" b="1"/>
              <a:t>Environment</a:t>
            </a:r>
            <a:r>
              <a:rPr lang="hu-HU" sz="1500"/>
              <a:t>: a “játszótér”, ahol a modulok mozognak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Atomi lépésvégrehajtás (minden robot egyszerre ugrik)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 b="1"/>
              <a:t>Grid</a:t>
            </a:r>
            <a:r>
              <a:rPr lang="hu-HU" sz="1500"/>
              <a:t>: tárolja, melyik cellát melyik modul foglalja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 b="1"/>
              <a:t>Module &amp; Move: </a:t>
            </a:r>
            <a:r>
              <a:rPr lang="hu-HU" sz="1500"/>
              <a:t>modulok és a lehetséges irányok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 b="1"/>
              <a:t>Phases 1–4</a:t>
            </a:r>
            <a:r>
              <a:rPr lang="hu-HU" sz="1500"/>
              <a:t>: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1: Exoskeleton építés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2: Scaffolding</a:t>
            </a:r>
            <a:endParaRPr sz="1500"/>
          </a:p>
          <a:p>
            <a:pPr marL="68580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3: Histogram átrendezés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4: Párhuzamos mozgással célalakzat elérése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 b="1"/>
              <a:t>Skeleton &amp; Parallel Moves</a:t>
            </a:r>
            <a:r>
              <a:rPr lang="hu-HU" sz="1500"/>
              <a:t>: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biztonságos mozgások keresése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ütközések elkerülése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csatlakozás ellenőrzése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•"/>
            </a:pPr>
            <a:r>
              <a:rPr lang="hu-HU" sz="1500"/>
              <a:t>Egyetlen célt szolgál: a kiinduló konfigurációt több lépésen keresztül egy célszerkezetbe rendezze úgy, hogy a robotok mindig egy összefüggő alakot alkossanak.</a:t>
            </a:r>
            <a:endParaRPr/>
          </a:p>
          <a:p>
            <a:pPr marL="228600" lvl="0" indent="-101600" algn="l" rtl="0">
              <a:lnSpc>
                <a:spcPct val="90000"/>
              </a:lnSpc>
              <a:spcBef>
                <a:spcPts val="600"/>
              </a:spcBef>
              <a:spcAft>
                <a:spcPts val="300"/>
              </a:spcAft>
              <a:buSzPts val="2000"/>
              <a:buNone/>
            </a:pPr>
            <a:endParaRPr sz="15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2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22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2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22"/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2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hu-HU" sz="4000">
                <a:solidFill>
                  <a:schemeClr val="lt1"/>
                </a:solidFill>
              </a:rPr>
              <a:t>Hogyan működik a párhuzamos mozgás?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91" name="Google Shape;191;p22"/>
          <p:cNvSpPr txBox="1">
            <a:spLocks noGrp="1"/>
          </p:cNvSpPr>
          <p:nvPr>
            <p:ph type="body" idx="1"/>
          </p:nvPr>
        </p:nvSpPr>
        <p:spPr>
          <a:xfrm>
            <a:off x="705101" y="1691375"/>
            <a:ext cx="10781793" cy="5109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"/>
              </a:spcBef>
              <a:spcAft>
                <a:spcPts val="0"/>
              </a:spcAft>
              <a:buSzPts val="2000"/>
              <a:buChar char="•"/>
            </a:pPr>
            <a:r>
              <a:rPr lang="hu-HU" sz="1600"/>
              <a:t>A párhuzamos mozgatás lényege:</a:t>
            </a:r>
            <a:br>
              <a:rPr lang="hu-HU" sz="1600"/>
            </a:br>
            <a:r>
              <a:rPr lang="hu-HU" sz="1600" b="1"/>
              <a:t>több robot egyszerre mozoghat anélkül, hogy ütköznének, egymás helyére lépnének, vagy szétszakítanák a szerkezetet.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 b="1"/>
              <a:t>Célkiosztás</a:t>
            </a:r>
            <a:r>
              <a:rPr lang="hu-HU" sz="1600"/>
              <a:t>: minden robot kap egy saját célpozíciót (legtöbbször a hozzá legközelebbit).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 b="1"/>
              <a:t>Lépésjavaslat</a:t>
            </a:r>
            <a:r>
              <a:rPr lang="hu-HU" sz="1600"/>
              <a:t>: minden robot javasol egy </a:t>
            </a:r>
            <a:r>
              <a:rPr lang="hu-HU" sz="1600" i="1"/>
              <a:t>kardinalis</a:t>
            </a:r>
            <a:r>
              <a:rPr lang="hu-HU" sz="1600"/>
              <a:t> lépést (fel/le/balra/jobbra), ami közelebb viszi a célhoz.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 b="1"/>
              <a:t>Ütközések szűrése</a:t>
            </a:r>
            <a:r>
              <a:rPr lang="hu-HU" sz="1600"/>
              <a:t>: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két robot nem léphet ugyanarra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nem cserélhetnek helyet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nem keresztezik egymást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 b="1"/>
              <a:t>Csatlakozás ellenőrzése</a:t>
            </a:r>
            <a:r>
              <a:rPr lang="hu-HU" sz="1600"/>
              <a:t>: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a rendszer teszteli: a lépés után </a:t>
            </a:r>
            <a:r>
              <a:rPr lang="hu-HU" sz="1600" b="1"/>
              <a:t>egy darabban marad-e</a:t>
            </a:r>
            <a:r>
              <a:rPr lang="hu-HU" sz="1600"/>
              <a:t> a robotstruktúra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ha nem → lépés elvetve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 b="1"/>
              <a:t>Maximális biztonságos lépéscsomag kiválasztása</a:t>
            </a:r>
            <a:r>
              <a:rPr lang="hu-HU" sz="1600"/>
              <a:t>: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egyszerre minél több robot mozoghat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 b="1"/>
              <a:t>Visszaesési stratégia</a:t>
            </a:r>
            <a:r>
              <a:rPr lang="hu-HU" sz="1600"/>
              <a:t>: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ha senki nem tud tömegben lépni → legalább 1 robot lépjen biztonságosan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/>
              <a:t>így </a:t>
            </a:r>
            <a:r>
              <a:rPr lang="hu-HU" sz="1600" i="1"/>
              <a:t>soha nem akad el</a:t>
            </a:r>
            <a:r>
              <a:rPr lang="hu-HU" sz="1600"/>
              <a:t> a program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</a:pPr>
            <a:r>
              <a:rPr lang="hu-HU" sz="1600" b="1"/>
              <a:t>Kulcsötlet:</a:t>
            </a:r>
            <a:br>
              <a:rPr lang="hu-HU" sz="1600"/>
            </a:br>
            <a:r>
              <a:rPr lang="hu-HU" sz="1600"/>
              <a:t>a lépések </a:t>
            </a:r>
            <a:r>
              <a:rPr lang="hu-HU" sz="1600" b="1"/>
              <a:t>egyszerre</a:t>
            </a:r>
            <a:r>
              <a:rPr lang="hu-HU" sz="1600"/>
              <a:t>, atomikusan történnek — így a robotok nem zavarják egymást, és valós párhuzamos mozgás valósul meg.</a:t>
            </a:r>
            <a:endParaRPr/>
          </a:p>
          <a:p>
            <a:pPr marL="228600" lvl="0" indent="-101600" algn="l" rtl="0">
              <a:lnSpc>
                <a:spcPct val="90000"/>
              </a:lnSpc>
              <a:spcBef>
                <a:spcPts val="200"/>
              </a:spcBef>
              <a:spcAft>
                <a:spcPts val="100"/>
              </a:spcAft>
              <a:buSzPts val="2000"/>
              <a:buNone/>
            </a:pPr>
            <a:endParaRPr sz="1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23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23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23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3"/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3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11111"/>
              <a:buNone/>
            </a:pPr>
            <a:r>
              <a:rPr lang="hu-HU" sz="4000">
                <a:solidFill>
                  <a:schemeClr val="lt1"/>
                </a:solidFill>
              </a:rPr>
              <a:t>Exoskeleton építés: mérési eredmények (összefoglaló)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02" name="Google Shape;202;p23"/>
          <p:cNvSpPr txBox="1">
            <a:spLocks noGrp="1"/>
          </p:cNvSpPr>
          <p:nvPr>
            <p:ph type="body" idx="1"/>
          </p:nvPr>
        </p:nvSpPr>
        <p:spPr>
          <a:xfrm>
            <a:off x="705101" y="1691375"/>
            <a:ext cx="10781793" cy="5109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"/>
              </a:spcBef>
              <a:spcAft>
                <a:spcPts val="0"/>
              </a:spcAft>
              <a:buSzPts val="2000"/>
              <a:buChar char="•"/>
            </a:pPr>
            <a:r>
              <a:rPr lang="hu-HU" sz="1500" b="1"/>
              <a:t>Mit mértünk?</a:t>
            </a:r>
            <a:br>
              <a:rPr lang="hu-HU" sz="1500"/>
            </a:br>
            <a:r>
              <a:rPr lang="hu-HU" sz="1500"/>
              <a:t>– Az 1. fázisban hány </a:t>
            </a:r>
            <a:r>
              <a:rPr lang="hu-HU" sz="1500" i="1"/>
              <a:t>transzformáció</a:t>
            </a:r>
            <a:r>
              <a:rPr lang="hu-HU" sz="1500"/>
              <a:t> történt</a:t>
            </a:r>
            <a:br>
              <a:rPr lang="hu-HU" sz="1500"/>
            </a:br>
            <a:r>
              <a:rPr lang="hu-HU" sz="1500"/>
              <a:t>– Egy transzformáción belül hány modul tudott </a:t>
            </a:r>
            <a:r>
              <a:rPr lang="hu-HU" sz="1500" b="1"/>
              <a:t>párhuzamosan</a:t>
            </a:r>
            <a:r>
              <a:rPr lang="hu-HU" sz="1500"/>
              <a:t> mozogni</a:t>
            </a:r>
            <a:br>
              <a:rPr lang="hu-HU" sz="1500"/>
            </a:br>
            <a:r>
              <a:rPr lang="hu-HU" sz="1500"/>
              <a:t>– Ebből látszik a rendszer párhuzamosítási képessége (mennyire “együtt mozognak” a modulok)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•"/>
            </a:pPr>
            <a:r>
              <a:rPr lang="hu-HU" sz="1500" b="1"/>
              <a:t>Fő tapasztalatok:</a:t>
            </a:r>
            <a:endParaRPr sz="1500"/>
          </a:p>
          <a:p>
            <a:pPr marL="114300" lvl="0" indent="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</a:pPr>
            <a:r>
              <a:rPr lang="hu-HU" sz="1500"/>
              <a:t>– A transzformációk száma erősen függ a kiinduló forma összetettségétől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A program gyakran képes </a:t>
            </a:r>
            <a:r>
              <a:rPr lang="hu-HU" sz="1500" b="1"/>
              <a:t>nagyon sok modult egyszerre</a:t>
            </a:r>
            <a:r>
              <a:rPr lang="hu-HU" sz="1500"/>
              <a:t> mozgatni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Tendencia: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első transzformációk → sok modul mozog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későbbi transzformációk → finomhangolás, 1–3 modul mozog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A rendszer jól skálázódik: több modul → nem lineárisan több transzformáció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 b="1"/>
              <a:t>Globális átlagok (15 – 30 modulszám esetén):</a:t>
            </a:r>
            <a:endParaRPr sz="1500"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Átlagos transzformációszám: </a:t>
            </a:r>
            <a:r>
              <a:rPr lang="hu-HU" sz="1500" b="1"/>
              <a:t>~6–7</a:t>
            </a:r>
            <a:endParaRPr sz="1500"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Egy transzformációban átlagosan: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Első fázisok: </a:t>
            </a:r>
            <a:r>
              <a:rPr lang="hu-HU" sz="1500" b="1"/>
              <a:t>10–14 modul</a:t>
            </a:r>
            <a:endParaRPr sz="1500"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Később: </a:t>
            </a:r>
            <a:r>
              <a:rPr lang="hu-HU" sz="1500" b="1"/>
              <a:t>1–3 modul</a:t>
            </a:r>
            <a:endParaRPr sz="1500"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Erős párhuzamosítás: az első lépésben sokszor a modulok </a:t>
            </a:r>
            <a:r>
              <a:rPr lang="hu-HU" sz="1500" b="1"/>
              <a:t>40–50%-a egyszerre</a:t>
            </a:r>
            <a:r>
              <a:rPr lang="hu-HU" sz="1500"/>
              <a:t> mozog</a:t>
            </a:r>
            <a:endParaRPr/>
          </a:p>
          <a:p>
            <a:pPr marL="228600" lvl="0" indent="-101600" algn="l" rtl="0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SzPts val="2000"/>
              <a:buNone/>
            </a:pPr>
            <a:endParaRPr sz="15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4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24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24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24"/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24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hu-HU" sz="4000">
                <a:solidFill>
                  <a:schemeClr val="lt1"/>
                </a:solidFill>
              </a:rPr>
              <a:t>Konkrét példák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13" name="Google Shape;213;p24"/>
          <p:cNvSpPr txBox="1">
            <a:spLocks noGrp="1"/>
          </p:cNvSpPr>
          <p:nvPr>
            <p:ph type="body" idx="1"/>
          </p:nvPr>
        </p:nvSpPr>
        <p:spPr>
          <a:xfrm>
            <a:off x="229675" y="1627625"/>
            <a:ext cx="2897635" cy="3061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-342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hu-HU" sz="1600" b="1"/>
              <a:t>27 modul → 6 transzformáció</a:t>
            </a:r>
            <a:endParaRPr sz="1600"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600"/>
              <a:t>10 modul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600"/>
              <a:t>7 modul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600"/>
              <a:t>5 modul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600"/>
              <a:t>2 modul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600"/>
              <a:t>3 modul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600"/>
              <a:t>2 modul</a:t>
            </a:r>
            <a:endParaRPr/>
          </a:p>
          <a:p>
            <a:pPr marL="228600" lvl="0" indent="-101600" algn="l" rtl="0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SzPts val="2000"/>
              <a:buNone/>
            </a:pPr>
            <a:endParaRPr sz="1500"/>
          </a:p>
        </p:txBody>
      </p:sp>
      <p:sp>
        <p:nvSpPr>
          <p:cNvPr id="214" name="Google Shape;214;p24"/>
          <p:cNvSpPr txBox="1"/>
          <p:nvPr/>
        </p:nvSpPr>
        <p:spPr>
          <a:xfrm>
            <a:off x="2766312" y="1671199"/>
            <a:ext cx="1929384" cy="11695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28 modul → 2 transzformáció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4"/>
          <p:cNvSpPr txBox="1"/>
          <p:nvPr/>
        </p:nvSpPr>
        <p:spPr>
          <a:xfrm>
            <a:off x="4948935" y="1661740"/>
            <a:ext cx="2029968" cy="1815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15 modul → 5 transzformáció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4"/>
          <p:cNvSpPr txBox="1"/>
          <p:nvPr/>
        </p:nvSpPr>
        <p:spPr>
          <a:xfrm>
            <a:off x="7455027" y="1661740"/>
            <a:ext cx="1600200" cy="2246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30 modul → 8 transzformáció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14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</p:txBody>
      </p:sp>
      <p:sp>
        <p:nvSpPr>
          <p:cNvPr id="217" name="Google Shape;217;p24"/>
          <p:cNvSpPr txBox="1"/>
          <p:nvPr/>
        </p:nvSpPr>
        <p:spPr>
          <a:xfrm>
            <a:off x="9685908" y="1662055"/>
            <a:ext cx="2029968" cy="28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29 modul → 11 transzformáció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12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 modul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 modul</a:t>
            </a:r>
            <a:endParaRPr/>
          </a:p>
        </p:txBody>
      </p:sp>
      <p:sp>
        <p:nvSpPr>
          <p:cNvPr id="218" name="Google Shape;218;p24"/>
          <p:cNvSpPr txBox="1"/>
          <p:nvPr/>
        </p:nvSpPr>
        <p:spPr>
          <a:xfrm>
            <a:off x="229675" y="4873752"/>
            <a:ext cx="1161180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Megfigyelés</a:t>
            </a:r>
            <a:b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→ A transzformációk első 1–2 lépésében mindig </a:t>
            </a:r>
            <a:r>
              <a:rPr lang="hu-HU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nagyon sok modul mozog</a:t>
            </a: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majd az utolsó lépésekben már csak finom igazítás történik.</a:t>
            </a:r>
            <a:b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Ez jelzi, hogy a rendszer </a:t>
            </a:r>
            <a:r>
              <a:rPr lang="hu-HU" sz="14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hatékonyan dolgozik párhuzamos mozgással</a:t>
            </a: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25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5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25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5"/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5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hu-HU" sz="4000">
                <a:solidFill>
                  <a:schemeClr val="lt1"/>
                </a:solidFill>
              </a:rPr>
              <a:t>Konkrét példák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229" name="Google Shape;229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8912" y="1891971"/>
            <a:ext cx="4410285" cy="4169583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5"/>
          <p:cNvSpPr txBox="1"/>
          <p:nvPr/>
        </p:nvSpPr>
        <p:spPr>
          <a:xfrm>
            <a:off x="530352" y="6319208"/>
            <a:ext cx="396849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Kezdőkonfiguráció</a:t>
            </a:r>
            <a:endParaRPr/>
          </a:p>
        </p:txBody>
      </p:sp>
      <p:pic>
        <p:nvPicPr>
          <p:cNvPr id="231" name="Google Shape;231;p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1848395"/>
            <a:ext cx="5548585" cy="4254745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5"/>
          <p:cNvSpPr txBox="1"/>
          <p:nvPr/>
        </p:nvSpPr>
        <p:spPr>
          <a:xfrm>
            <a:off x="7031736" y="6319208"/>
            <a:ext cx="363931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Exoskeleton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5"/>
          <p:cNvSpPr txBox="1"/>
          <p:nvPr/>
        </p:nvSpPr>
        <p:spPr>
          <a:xfrm>
            <a:off x="5020056" y="3282696"/>
            <a:ext cx="932688" cy="477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5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26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6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6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6"/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6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11111"/>
              <a:buNone/>
            </a:pPr>
            <a:r>
              <a:rPr lang="hu-HU" sz="4000">
                <a:solidFill>
                  <a:schemeClr val="lt1"/>
                </a:solidFill>
              </a:rPr>
              <a:t>generate_inputs.py: Véletlen bemeneti konfigurációk generálása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44" name="Google Shape;244;p26"/>
          <p:cNvSpPr txBox="1">
            <a:spLocks noGrp="1"/>
          </p:cNvSpPr>
          <p:nvPr>
            <p:ph type="body" idx="1"/>
          </p:nvPr>
        </p:nvSpPr>
        <p:spPr>
          <a:xfrm>
            <a:off x="705101" y="1691375"/>
            <a:ext cx="10781793" cy="5109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"/>
              </a:spcBef>
              <a:spcAft>
                <a:spcPts val="0"/>
              </a:spcAft>
              <a:buSzPts val="2000"/>
              <a:buChar char="•"/>
            </a:pPr>
            <a:r>
              <a:rPr lang="hu-HU" sz="1500" b="1"/>
              <a:t>Cél:</a:t>
            </a:r>
            <a:br>
              <a:rPr lang="hu-HU" sz="1500"/>
            </a:br>
            <a:r>
              <a:rPr lang="hu-HU" sz="1500"/>
              <a:t>100 darab véletlenszerű, </a:t>
            </a:r>
            <a:r>
              <a:rPr lang="hu-HU" sz="1500" b="1"/>
              <a:t>összefüggő</a:t>
            </a:r>
            <a:r>
              <a:rPr lang="hu-HU" sz="1500"/>
              <a:t> modul-konfiguráció előállítása egy rácson, amelyet később az algoritmus teszteléséhez használunk.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 b="1"/>
              <a:t>Hogyan működik?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1) Kiindulás egyetlen modulból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Mindig egy modullal kezd: pozíció </a:t>
            </a:r>
            <a:r>
              <a:rPr lang="hu-HU" sz="1500" b="1"/>
              <a:t>(4, 4)</a:t>
            </a:r>
            <a:endParaRPr sz="1500"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Innen növeszti tovább a struktúrát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Közben figyeli a legnagyobb X és Y értékeket → ebből lesz a rács mérete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 b="1"/>
              <a:t>Modulok “növesztése” véletlenszerűen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A program addig ismétel, amíg el nem éri a kívánt modul-számot: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Véletlenszerűen kiválaszt egy már létező modult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Véletlen irányba “rátesz” mellé egy új modult:</a:t>
            </a:r>
            <a:br>
              <a:rPr lang="hu-HU" sz="1500"/>
            </a:br>
            <a:r>
              <a:rPr lang="hu-HU" sz="1500"/>
              <a:t> jobbra / balra / fel / le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Csak akkor fogadja el, ha: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még nincs ilyen modul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nem megy negatív koordinátákba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a struktúra összefüggő marad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/>
              <a:t>Ez egyfajta </a:t>
            </a:r>
            <a:r>
              <a:rPr lang="hu-HU" sz="1500" b="1"/>
              <a:t>véletlen fa-szerű növekedést</a:t>
            </a:r>
            <a:r>
              <a:rPr lang="hu-HU" sz="1500"/>
              <a:t> eredményez.</a:t>
            </a:r>
            <a:endParaRPr/>
          </a:p>
          <a:p>
            <a:pPr marL="228600" lvl="0" indent="-101600" algn="l" rtl="0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SzPts val="2000"/>
              <a:buNone/>
            </a:pPr>
            <a:endParaRPr sz="15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27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7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7"/>
          <p:cNvSpPr/>
          <p:nvPr/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7"/>
          <p:cNvSpPr/>
          <p:nvPr/>
        </p:nvSpPr>
        <p:spPr>
          <a:xfrm>
            <a:off x="229675" y="36884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7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11111"/>
              <a:buNone/>
            </a:pPr>
            <a:r>
              <a:rPr lang="hu-HU" sz="4000">
                <a:solidFill>
                  <a:schemeClr val="lt1"/>
                </a:solidFill>
              </a:rPr>
              <a:t>bulk_run.py: Tömeges tesztelés és teljesítménymérés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55" name="Google Shape;255;p27"/>
          <p:cNvSpPr txBox="1">
            <a:spLocks noGrp="1"/>
          </p:cNvSpPr>
          <p:nvPr>
            <p:ph type="body" idx="1"/>
          </p:nvPr>
        </p:nvSpPr>
        <p:spPr>
          <a:xfrm>
            <a:off x="705101" y="1691375"/>
            <a:ext cx="10781793" cy="5109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 b="1"/>
              <a:t>Cél: </a:t>
            </a:r>
            <a:r>
              <a:rPr lang="hu-HU" sz="1500"/>
              <a:t>A program automatikusan </a:t>
            </a:r>
            <a:r>
              <a:rPr lang="hu-HU" sz="1500" b="1"/>
              <a:t>százszámra futtatja</a:t>
            </a:r>
            <a:r>
              <a:rPr lang="hu-HU" sz="1500"/>
              <a:t> a modul-átalakító algoritmust különböző méretű struktúrákon, hogy mérje: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milyen gyakran sikerül az átalakítás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hány lépés (művelet) kell hozzá</a:t>
            </a:r>
            <a:endParaRPr/>
          </a:p>
          <a:p>
            <a: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500" b="1"/>
              <a:t>Hogyan működik?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 b="1"/>
              <a:t>Beolvas egy kiinduló alakzatot</a:t>
            </a:r>
            <a:endParaRPr/>
          </a:p>
          <a:p>
            <a: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Fájlból olvas be rácsokat (0 = üres, 1 = modul)</a:t>
            </a:r>
            <a:endParaRPr/>
          </a:p>
          <a:p>
            <a: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Ezekből állítja elő a tesztelendő kiindulási és célalakzatokat</a:t>
            </a:r>
            <a:endParaRPr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 b="1"/>
              <a:t>Minden paraméterként megadott modul számra </a:t>
            </a:r>
            <a:endParaRPr/>
          </a:p>
          <a:p>
            <a: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Legenerál 100 véletlen konfigurációt</a:t>
            </a:r>
            <a:endParaRPr/>
          </a:p>
          <a:p>
            <a: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Lefuttat megadható számú szimulációt:</a:t>
            </a:r>
            <a:endParaRPr sz="1500"/>
          </a:p>
          <a:p>
            <a: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</a:pPr>
            <a:r>
              <a:rPr lang="hu-HU" sz="1500"/>
              <a:t>Kiválaszt a generált 100 konfigurációból 2-t mint start és cél, és futtatja az algoritmust</a:t>
            </a:r>
            <a:endParaRPr sz="1500"/>
          </a:p>
          <a:p>
            <a: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 b="1"/>
              <a:t>Futtatja az algoritmust “láthatatlan” módban</a:t>
            </a:r>
            <a:endParaRPr/>
          </a:p>
          <a:p>
            <a: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Elindítja a teljes átalakítási folyamatot (fázis 1–4)</a:t>
            </a:r>
            <a:endParaRPr/>
          </a:p>
          <a:p>
            <a: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Megszámolja, hány lépés kellett a teljes átalakuláshoz</a:t>
            </a:r>
            <a:endParaRPr/>
          </a:p>
          <a:p>
            <a: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hu-HU" sz="1500"/>
              <a:t>Kezeli a hibákat is (pl. ha meghiúsul egy átalakítás)</a:t>
            </a:r>
            <a:endParaRPr/>
          </a:p>
          <a:p>
            <a:pPr marL="4572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28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28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28"/>
          <p:cNvSpPr/>
          <p:nvPr/>
        </p:nvSpPr>
        <p:spPr>
          <a:xfrm flipH="1">
            <a:off x="8115297" y="-1"/>
            <a:ext cx="4076700" cy="1590600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19991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8"/>
          <p:cNvSpPr/>
          <p:nvPr/>
        </p:nvSpPr>
        <p:spPr>
          <a:xfrm>
            <a:off x="459350" y="-1"/>
            <a:ext cx="11732700" cy="1597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799925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8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Eredmények</a:t>
            </a:r>
            <a:endParaRPr/>
          </a:p>
        </p:txBody>
      </p:sp>
      <p:sp>
        <p:nvSpPr>
          <p:cNvPr id="266" name="Google Shape;266;p28"/>
          <p:cNvSpPr txBox="1">
            <a:spLocks noGrp="1"/>
          </p:cNvSpPr>
          <p:nvPr>
            <p:ph type="body" idx="1"/>
          </p:nvPr>
        </p:nvSpPr>
        <p:spPr>
          <a:xfrm>
            <a:off x="1056000" y="1952200"/>
            <a:ext cx="10080000" cy="43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hu-HU" sz="2300" b="1"/>
              <a:t>Végzett futtatások:</a:t>
            </a:r>
            <a:endParaRPr sz="2300" b="1"/>
          </a:p>
          <a:p>
            <a:pPr marL="914400" lvl="1" indent="-3746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hu-HU" sz="2300"/>
              <a:t>20-500 modul számoknál minden modul számra 10 szimuláció</a:t>
            </a:r>
            <a:endParaRPr sz="2300"/>
          </a:p>
          <a:p>
            <a:pPr marL="914400" lvl="1" indent="-3746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hu-HU" sz="2300"/>
              <a:t>40 modul számra 1000 szimuláció</a:t>
            </a:r>
            <a:endParaRPr sz="23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2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9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29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9"/>
          <p:cNvSpPr/>
          <p:nvPr/>
        </p:nvSpPr>
        <p:spPr>
          <a:xfrm flipH="1">
            <a:off x="8115297" y="-1"/>
            <a:ext cx="4076700" cy="1590600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19991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9"/>
          <p:cNvSpPr/>
          <p:nvPr/>
        </p:nvSpPr>
        <p:spPr>
          <a:xfrm>
            <a:off x="459350" y="-1"/>
            <a:ext cx="11732700" cy="1597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799925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9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Eredmények: Kerület / modul szám</a:t>
            </a:r>
            <a:endParaRPr/>
          </a:p>
        </p:txBody>
      </p:sp>
      <p:sp>
        <p:nvSpPr>
          <p:cNvPr id="277" name="Google Shape;277;p29"/>
          <p:cNvSpPr txBox="1">
            <a:spLocks noGrp="1"/>
          </p:cNvSpPr>
          <p:nvPr>
            <p:ph type="body" idx="1"/>
          </p:nvPr>
        </p:nvSpPr>
        <p:spPr>
          <a:xfrm>
            <a:off x="6471775" y="2067775"/>
            <a:ext cx="4979700" cy="43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hu-HU" sz="2300"/>
              <a:t>A kerület a nodulszám függvényében gyökösnek látszik</a:t>
            </a:r>
            <a:endParaRPr sz="2300"/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lang="hu-HU" sz="2300"/>
              <a:t>Ezt vátruk</a:t>
            </a:r>
            <a:endParaRPr sz="2300"/>
          </a:p>
        </p:txBody>
      </p:sp>
      <p:pic>
        <p:nvPicPr>
          <p:cNvPr id="3" name="Kép 2" descr="A képen szöveg, diagram, Diagram, képernyő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3024CA77-F5ED-9BA6-3135-782AE14FF7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802" y="1792219"/>
            <a:ext cx="6026990" cy="438912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30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30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30"/>
          <p:cNvSpPr/>
          <p:nvPr/>
        </p:nvSpPr>
        <p:spPr>
          <a:xfrm flipH="1">
            <a:off x="8115297" y="-1"/>
            <a:ext cx="4076700" cy="1590600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19991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30"/>
          <p:cNvSpPr/>
          <p:nvPr/>
        </p:nvSpPr>
        <p:spPr>
          <a:xfrm>
            <a:off x="459350" y="-1"/>
            <a:ext cx="11732700" cy="1597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799925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Eredmények: kerület eloszlása</a:t>
            </a:r>
            <a:endParaRPr/>
          </a:p>
        </p:txBody>
      </p:sp>
      <p:pic>
        <p:nvPicPr>
          <p:cNvPr id="289" name="Google Shape;289;p30" title="circumference_distribution_4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7725" y="1638775"/>
            <a:ext cx="4163950" cy="249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30" title="circumference_distribution_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94275" y="1638775"/>
            <a:ext cx="4430025" cy="26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30" title="circumference_distribution_55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7700" y="4102725"/>
            <a:ext cx="4164000" cy="2498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30" title="circumference_distribution_40_1000_run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94275" y="4102725"/>
            <a:ext cx="4429975" cy="26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32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0F4861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32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156082">
                  <a:alpha val="0"/>
                </a:srgbClr>
              </a:gs>
              <a:gs pos="20000">
                <a:srgbClr val="156082">
                  <a:alpha val="0"/>
                </a:srgbClr>
              </a:gs>
              <a:gs pos="100000">
                <a:srgbClr val="0A3041">
                  <a:alpha val="54509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32"/>
          <p:cNvSpPr/>
          <p:nvPr/>
        </p:nvSpPr>
        <p:spPr>
          <a:xfrm flipH="1">
            <a:off x="8115297" y="-1"/>
            <a:ext cx="4076700" cy="1590600"/>
          </a:xfrm>
          <a:prstGeom prst="rect">
            <a:avLst/>
          </a:prstGeom>
          <a:gradFill>
            <a:gsLst>
              <a:gs pos="0">
                <a:srgbClr val="156082">
                  <a:alpha val="65490"/>
                </a:srgbClr>
              </a:gs>
              <a:gs pos="100000">
                <a:srgbClr val="000000">
                  <a:alpha val="29411"/>
                </a:srgbClr>
              </a:gs>
            </a:gsLst>
            <a:lin ang="1319991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32"/>
          <p:cNvSpPr/>
          <p:nvPr/>
        </p:nvSpPr>
        <p:spPr>
          <a:xfrm>
            <a:off x="459350" y="-1"/>
            <a:ext cx="11732700" cy="1597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0A3041">
                  <a:alpha val="51372"/>
                </a:srgbClr>
              </a:gs>
              <a:gs pos="100000">
                <a:srgbClr val="0A3041">
                  <a:alpha val="51372"/>
                </a:srgbClr>
              </a:gs>
            </a:gsLst>
            <a:lin ang="16799925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32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Play"/>
              <a:buNone/>
            </a:pPr>
            <a:r>
              <a:rPr lang="hu-HU" sz="4000">
                <a:solidFill>
                  <a:srgbClr val="FFFFFF"/>
                </a:solidFill>
              </a:rPr>
              <a:t>Eredmények: Lépésszám</a:t>
            </a:r>
            <a:endParaRPr/>
          </a:p>
        </p:txBody>
      </p:sp>
      <p:pic>
        <p:nvPicPr>
          <p:cNvPr id="3" name="Kép 2" descr="A képen szöveg, képernyőkép, diagram, Diagram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684A5E9-7BC8-5E51-33F4-2BB3BBA8F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2159845"/>
            <a:ext cx="5450405" cy="4045767"/>
          </a:xfrm>
          <a:prstGeom prst="rect">
            <a:avLst/>
          </a:prstGeom>
        </p:spPr>
      </p:pic>
      <p:pic>
        <p:nvPicPr>
          <p:cNvPr id="5" name="Kép 4" descr="A képen szöveg, képernyőkép, diagram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E952D4B-A58B-9A2D-B463-30873A0FAC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2" y="2163046"/>
            <a:ext cx="5618994" cy="42142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1262</Words>
  <Application>Microsoft Office PowerPoint</Application>
  <PresentationFormat>Szélesvásznú</PresentationFormat>
  <Paragraphs>186</Paragraphs>
  <Slides>19</Slides>
  <Notes>19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19</vt:i4>
      </vt:variant>
    </vt:vector>
  </HeadingPairs>
  <TitlesOfParts>
    <vt:vector size="22" baseType="lpstr">
      <vt:lpstr>Arial</vt:lpstr>
      <vt:lpstr>Play</vt:lpstr>
      <vt:lpstr>Office-téma</vt:lpstr>
      <vt:lpstr>Sliding Squares in Parallel</vt:lpstr>
      <vt:lpstr>Az alapprobléma</vt:lpstr>
      <vt:lpstr>Worst-case optimal algorithm</vt:lpstr>
      <vt:lpstr>I. fázis: Exoskeleton építése</vt:lpstr>
      <vt:lpstr>II. fázis: Scaffolding</vt:lpstr>
      <vt:lpstr>III. fázis: Sweeping into a histogram </vt:lpstr>
      <vt:lpstr>IV. fázis: Hisztogram-átalakítás</vt:lpstr>
      <vt:lpstr>Szimulációs program</vt:lpstr>
      <vt:lpstr>Program felépítése</vt:lpstr>
      <vt:lpstr>Hogyan működik a párhuzamos mozgás?</vt:lpstr>
      <vt:lpstr>Exoskeleton építés: mérési eredmények (összefoglaló)</vt:lpstr>
      <vt:lpstr>Konkrét példák</vt:lpstr>
      <vt:lpstr>Konkrét példák</vt:lpstr>
      <vt:lpstr>generate_inputs.py: Véletlen bemeneti konfigurációk generálása</vt:lpstr>
      <vt:lpstr>bulk_run.py: Tömeges tesztelés és teljesítménymérés</vt:lpstr>
      <vt:lpstr>Eredmények</vt:lpstr>
      <vt:lpstr>Eredmények: Kerület / modul szám</vt:lpstr>
      <vt:lpstr>Eredmények: kerület eloszlása</vt:lpstr>
      <vt:lpstr>Eredmények: Lépésszám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Lamelo2@sulid.hu</cp:lastModifiedBy>
  <cp:revision>2</cp:revision>
  <dcterms:modified xsi:type="dcterms:W3CDTF">2025-12-07T20:42:47Z</dcterms:modified>
</cp:coreProperties>
</file>